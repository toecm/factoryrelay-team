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industrial problem is agreement on equipment identity, requested action, quantity, timing and release conditions. Fluent output can still contain an operational error. Factory Relay creates a controlled, animated handover setting in which errors have observable simulated consequences. The proposed research question compares a frozen local model with memory and personal adaptation. Translation is bidirectional across the chosen pilot languages/varieties, including translation into the recipient’s underrepresented variety. The project does not claim accurate universal coverage. HSE supports relevant information exchange and cross-checking, not a claimed translation improvement. Source: https://www.hse.gov.uk/humanfactors/topics/shift-handover.htm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DSV manager’s account and supplied screenshots motivate study of multilingual operational communication. The images contain mixed Chinese/English, acronyms and printing-related context. They do not establish a measured financial loss, regional-dialect model failure, manufacturing incident or confirmed partnership. Validate the workflow and examples with the company contact. If the course requires manufacturing rather than smart logistics, obtain supervisor agreement or a manufacturing case. Existing Factory Relay provides animation, deterministic scenarios and local text coordination. None of the planned language models, cross-device transport, model training or physical gateway should be described as already implemented. Manufacturing simulation prior art: https://www.nist.gov/publications/simulation-and-gaming-architecture-manufacturing-research-testing-and-training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existing UI with a local companion service for inference, encrypted storage and adapter training. The first launch downloads a licensed, versioned model pack; subsequent sessions verify and reuse the cache. A quantized inference artifact is not automatically a trainable checkpoint. Qwen3-1.7B is an Apache-2.0 candidate text model; Qwen3-ASR-0.6B-hf is a candidate voice extension. Evaluate actual language support, dialect quality, memory use and latency on target hardware. Neither model card demonstrates suitability for every underrepresented variety. Source and target profiles are explicitly selected and speaker-reviewed; do not infer identity or cultural intent from stereotypes. Preserve the original rather than replacing it with standardized prose. Browser inference is possible, but a native companion is the initial implementation path for this training workload. Sources: https://huggingface.co/Qwen/Qwen3-1.7B ; https://huggingface.co/Qwen/Qwen3-ASR-0.6B-hf ; https://webllm.mlc.ai/docs/index.html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both choices after each game. Retrieval updates are useful adaptation but must not be mislabeled as fine-tuning. Genuine training changes adapter weights with the base model frozen. For ASR, use audio paired with speaker-corrected transcripts; for interpretation, use source text paired with verified intent and target rendering. Translation into a target dialect requires a competent bilingual or target-community reviewer, not merely a monolingual speaker accepting the output. Never automatically treat model outputs or hidden game answers as correct labels. Hold out review examples and test critical operational fields, retention on earlier skills, latency and memory. Activate candidate adapters only between sessions; support comparison, rollback, export and deletion. Very small datasets may favor retrieval over fine-tuning. Queue insufficient examples honestly instead of showing a fake training success. Source: https://huggingface.co/docs/peft/developer_guides/quantization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WebRTC encrypted data channels with signaling and STUN/TURN connectivity. Signaling and relay infrastructure are distinct from centralizing personal training datasets. Raw recordings and personal training corpora stay on each device by default; only chosen messages and events are transmitted for play. Recipients can retain what they receive. Local storage is protected by encryption with OS-backed key storage, subject to the endpoint’s security. Audit and disable unapproved upload and evaluation telemetry in the sensitive game path. The assistant receives only participant-visible context, not hidden scoring state. Personal adapters are the default. Federated aggregation and adapter sharing are optional later studies and can expose information without further protections; blockchain is unnecessary for the core evaluation. Source: https://webrtc.org/getting-started/peer-connections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control is part of the proposed extended scope, conditional on available supervised laboratory hardware and a validated process. The current game controls no physical equipment. Begin with a small demonstrator, not an existing production line. A translated message becomes an explicit action proposal. Human confirmation is followed by deterministic authorization: allowed commands, asset identity, fresh state, permissions and process interlocks. Controller logic handles communication loss and stopping independently of the model. Model training never changes these deterministic controls. OPC UA can supply a standard interface/security model, but does not certify the application’s logic or physical safety. Verify the selected hardware, command set and supervision with the manufacturing lead before the demonstration. Source: https://reference.opcfoundation.org/specs/OPC-10000-2/4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same base model with no personalization, local retrieval memory, and retrieval plus personal adapter. Hold accessible facts constant and keep hidden answer keys out of the language model’s context. Use equivalent held-out scenarios and counterbalance order; distinguish simulated wrong-action attempts from actions rejected by game or gateway rules. Primary semantic evaluation is human-reviewed correctness of operational fields, not an LLM judging its own responses. WER/CER against dialect-faithful reference transcripts is relevant to speech recognition and not sufficient for translation quality. The supplied CA-IEDI manuscript uses semantic cosine distance for SAER; SwitchLingua defines SAER as (1-alpha) times semantic distance plus alpha times WER/CER. Do not silently interchange them or claim either is a universal standard. Freeze any chosen formula, embedding model and alpha before testing; treat it as supporting evidence. Evaluate target-variety adequacy with competent reviewers. Koenecke et al. establishes specific ASR disparities, not a universal current benchmark. Sources: https://pubmed.ncbi.nlm.nih.gov/32205437/ ; https://proceedings.neurips.cc/paper_files/paper/2025/file/4847447cae911dde321ca19afe7d8707-Paper-Datasets_and_Benchmarks_Track.pdf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minimum useful outcome is an evaluated local translation and learning pipeline integrated into Factory Relay, with truthful accounting of unfinished milestones. Weeks 1–4 establish the real company process, target community, language pair, device requirements and measures. Weeks 5–8 implement local model-pack loading, inference, cross-device rooms and optional local capture. Weeks 9–12 add reviewed memory updates and genuine adapter training with held-out checks and rollback. Weeks 13–15 complete matched evaluation, a hardware-dependent supervised demonstration, failure analysis and presentation. Model size or queued training addresses resource limits. Narrow language scope and competent reviewers address coverage. Retention tests and rollback address overfitting and unwanted normalization. Local encryption, network audits and explicit sharing address privacy. Company/hardware access delays must remain visible in the report. No improvement percentage, patent novelty or certified deployment is promised. Selected sources:</a:t>
            </a:r>
          </a:p>
          <a:p>
            <a:r>
              <a:t>[1] HSE. Shift handover: information exchange and cross-checking.</a:t>
            </a:r>
          </a:p>
          <a:p>
            <a:r>
              <a:t>https://www.hse.gov.uk/humanfactors/topics/shift-handover.htm</a:t>
            </a:r>
          </a:p>
          <a:p>
            <a:r>
              <a:t>[2] Koenecke et al. (2020). Racial disparities in automated speech recognition. PNAS.</a:t>
            </a:r>
          </a:p>
          <a:p>
            <a:r>
              <a:t>https://pubmed.ncbi.nlm.nih.gov/32205437/</a:t>
            </a:r>
          </a:p>
          <a:p>
            <a:r>
              <a:t>[3] Qwen. Qwen3-1.7B: official model card and license.</a:t>
            </a:r>
          </a:p>
          <a:p>
            <a:r>
              <a:t>https://huggingface.co/Qwen/Qwen3-1.7B</a:t>
            </a:r>
          </a:p>
          <a:p>
            <a:r>
              <a:t>[4] Qwen. Qwen3-ASR-0.6B-hf: official speech model card.</a:t>
            </a:r>
          </a:p>
          <a:p>
            <a:r>
              <a:t>https://huggingface.co/Qwen/Qwen3-ASR-0.6B-hf</a:t>
            </a:r>
          </a:p>
          <a:p>
            <a:r>
              <a:t>[5] Hugging Face. PEFT: quantization and adapter training.</a:t>
            </a:r>
          </a:p>
          <a:p>
            <a:r>
              <a:t>https://huggingface.co/docs/peft/developer_guides/quantization</a:t>
            </a:r>
          </a:p>
          <a:p>
            <a:r>
              <a:t>[6] WebRTC. Peer connections, signaling and connectivity.</a:t>
            </a:r>
          </a:p>
          <a:p>
            <a:r>
              <a:t>https://webrtc.org/getting-started/peer-connections</a:t>
            </a:r>
          </a:p>
          <a:p>
            <a:r>
              <a:t>[7] Seamless Communication et al. Seamless: multilingual, expressive and streaming speech translation.</a:t>
            </a:r>
          </a:p>
          <a:p>
            <a:r>
              <a:t>https://ai.meta.com/research/publications/seamless-multilingual-expressive-and-streaming-speech-translation/</a:t>
            </a:r>
          </a:p>
          <a:p>
            <a:r>
              <a:t>[8] SwitchLingua (2025). Dataset and semantic-aware evaluation. NeurIPS Datasets and Benchmarks.</a:t>
            </a:r>
          </a:p>
          <a:p>
            <a:r>
              <a:t>https://proceedings.neurips.cc/paper_files/paper/2025/file/4847447cae911dde321ca19afe7d8707-Paper-Datasets_and_Benchmarks_Track.pdf</a:t>
            </a:r>
          </a:p>
          <a:p>
            <a:r>
              <a:t>[9] McLean et al. (2005). Manufacturing simulation and gaming. NISTIR 7256.</a:t>
            </a:r>
          </a:p>
          <a:p>
            <a:r>
              <a:t>https://www.nist.gov/publications/simulation-and-gaming-architecture-manufacturing-research-testing-and-training</a:t>
            </a:r>
          </a:p>
          <a:p>
            <a:r>
              <a:t>[10] OPC Foundation. OPC UA security model: Part 2, section 4.</a:t>
            </a:r>
          </a:p>
          <a:p>
            <a:r>
              <a:t>https://reference.opcfoundation.org/specs/OPC-10000-2/4</a:t>
            </a:r>
          </a:p>
          <a:p>
            <a:r>
              <a:t>[11] MLC. WebLLM documentation: browser inference.</a:t>
            </a:r>
          </a:p>
          <a:p>
            <a:r>
              <a:t>https://webllm.mlc.ai/docs/index.html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hse.gov.uk/humanfactors/topics/shift-handover.htm"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Qwen/Qwen3-1.7B" TargetMode="External"/><Relationship Id="rId3" Type="http://schemas.openxmlformats.org/officeDocument/2006/relationships/hyperlink" Target="https://huggingface.co/Qwen/Qwen3-ASR-0.6B-hf"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ocs/peft/developer_guides/quantization"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ebrtc.org/getting-started/peer-connections"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ference.opcfoundation.org/specs/OPC-10000-2/4"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2205437/" TargetMode="External"/><Relationship Id="rId3" Type="http://schemas.openxmlformats.org/officeDocument/2006/relationships/hyperlink" Target="https://proceedings.neurips.cc/paper_files/paper/2025/file/4847447cae911dde321ca19afe7d8707-Paper-Datasets_and_Benchmarks_Track.pdf"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9728"/>
          </a:xfrm>
          <a:prstGeom prst="rect">
            <a:avLst/>
          </a:prstGeom>
          <a:solidFill>
            <a:srgbClr val="00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28600"/>
          </a:xfrm>
          <a:prstGeom prst="rect">
            <a:avLst/>
          </a:prstGeom>
          <a:noFill/>
        </p:spPr>
        <p:txBody>
          <a:bodyPr wrap="square" lIns="0" rIns="0" tIns="0" bIns="0">
            <a:spAutoFit/>
          </a:bodyPr>
          <a:lstStyle/>
          <a:p>
            <a:pPr>
              <a:lnSpc>
                <a:spcPct val="108000"/>
              </a:lnSpc>
              <a:spcAft>
                <a:spcPts val="0"/>
              </a:spcAft>
            </a:pPr>
            <a:r>
              <a:rPr sz="1000" b="1">
                <a:solidFill>
                  <a:srgbClr val="007580"/>
                </a:solidFill>
                <a:latin typeface="Arial"/>
              </a:rPr>
              <a:t>FACTORY RELAY  /  SMART FACTORY PBL</a:t>
            </a:r>
          </a:p>
        </p:txBody>
      </p:sp>
      <p:sp>
        <p:nvSpPr>
          <p:cNvPr id="4" name="TextBox 3"/>
          <p:cNvSpPr txBox="1"/>
          <p:nvPr/>
        </p:nvSpPr>
        <p:spPr>
          <a:xfrm>
            <a:off x="548640" y="758952"/>
            <a:ext cx="11064240" cy="694944"/>
          </a:xfrm>
          <a:prstGeom prst="rect">
            <a:avLst/>
          </a:prstGeom>
          <a:noFill/>
        </p:spPr>
        <p:txBody>
          <a:bodyPr wrap="square" lIns="0" rIns="0" tIns="0" bIns="0">
            <a:spAutoFit/>
          </a:bodyPr>
          <a:lstStyle/>
          <a:p>
            <a:pPr>
              <a:lnSpc>
                <a:spcPct val="108000"/>
              </a:lnSpc>
              <a:spcAft>
                <a:spcPts val="0"/>
              </a:spcAft>
            </a:pPr>
            <a:r>
              <a:rPr sz="3000" b="1">
                <a:solidFill>
                  <a:srgbClr val="14354A"/>
                </a:solidFill>
                <a:latin typeface="Arial"/>
              </a:rPr>
              <a:t>Preserve meaning at the factory handover</a:t>
            </a:r>
          </a:p>
        </p:txBody>
      </p:sp>
      <p:sp>
        <p:nvSpPr>
          <p:cNvPr id="5" name="TextBox 4"/>
          <p:cNvSpPr txBox="1"/>
          <p:nvPr/>
        </p:nvSpPr>
        <p:spPr>
          <a:xfrm>
            <a:off x="548640" y="1554480"/>
            <a:ext cx="11064240" cy="56692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Factory Relay: on-device learning for multilingual factory communication</a:t>
            </a:r>
          </a:p>
        </p:txBody>
      </p:sp>
      <p:sp>
        <p:nvSpPr>
          <p:cNvPr id="6" name="Rectangle 5"/>
          <p:cNvSpPr/>
          <p:nvPr/>
        </p:nvSpPr>
        <p:spPr>
          <a:xfrm>
            <a:off x="548640" y="2414016"/>
            <a:ext cx="3364992" cy="2231136"/>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651760"/>
            <a:ext cx="2990088"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REPORT</a:t>
            </a:r>
          </a:p>
        </p:txBody>
      </p:sp>
      <p:sp>
        <p:nvSpPr>
          <p:cNvPr id="8" name="TextBox 7"/>
          <p:cNvSpPr txBox="1"/>
          <p:nvPr/>
        </p:nvSpPr>
        <p:spPr>
          <a:xfrm>
            <a:off x="722376" y="3209544"/>
            <a:ext cx="2990088" cy="1197864"/>
          </a:xfrm>
          <a:prstGeom prst="rect">
            <a:avLst/>
          </a:prstGeom>
          <a:noFill/>
        </p:spPr>
        <p:txBody>
          <a:bodyPr wrap="square" lIns="0" rIns="0" tIns="0" bIns="0">
            <a:spAutoFit/>
          </a:bodyPr>
          <a:lstStyle/>
          <a:p>
            <a:pPr>
              <a:lnSpc>
                <a:spcPct val="108000"/>
              </a:lnSpc>
              <a:spcAft>
                <a:spcPts val="0"/>
              </a:spcAft>
            </a:pPr>
            <a:r>
              <a:rPr sz="2200" b="0">
                <a:solidFill>
                  <a:srgbClr val="253B4B"/>
                </a:solidFill>
                <a:latin typeface="Arial"/>
              </a:rPr>
              <a:t>The operator uses their preferred language or dialect.</a:t>
            </a:r>
          </a:p>
        </p:txBody>
      </p:sp>
      <p:sp>
        <p:nvSpPr>
          <p:cNvPr id="9" name="Rectangle 8"/>
          <p:cNvSpPr/>
          <p:nvPr/>
        </p:nvSpPr>
        <p:spPr>
          <a:xfrm>
            <a:off x="4416552" y="2414016"/>
            <a:ext cx="3364992" cy="2231136"/>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651760"/>
            <a:ext cx="2990088"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INTERPRET</a:t>
            </a:r>
          </a:p>
        </p:txBody>
      </p:sp>
      <p:sp>
        <p:nvSpPr>
          <p:cNvPr id="11" name="TextBox 10"/>
          <p:cNvSpPr txBox="1"/>
          <p:nvPr/>
        </p:nvSpPr>
        <p:spPr>
          <a:xfrm>
            <a:off x="4590288" y="3209544"/>
            <a:ext cx="2990088" cy="1197864"/>
          </a:xfrm>
          <a:prstGeom prst="rect">
            <a:avLst/>
          </a:prstGeom>
          <a:noFill/>
        </p:spPr>
        <p:txBody>
          <a:bodyPr wrap="square" lIns="0" rIns="0" tIns="0" bIns="0">
            <a:spAutoFit/>
          </a:bodyPr>
          <a:lstStyle/>
          <a:p>
            <a:pPr>
              <a:lnSpc>
                <a:spcPct val="108000"/>
              </a:lnSpc>
              <a:spcAft>
                <a:spcPts val="0"/>
              </a:spcAft>
            </a:pPr>
            <a:r>
              <a:rPr sz="2200" b="0">
                <a:solidFill>
                  <a:srgbClr val="253B4B"/>
                </a:solidFill>
                <a:latin typeface="Arial"/>
              </a:rPr>
              <a:t>Local support translates into the recipient’s chosen variety.</a:t>
            </a:r>
          </a:p>
        </p:txBody>
      </p:sp>
      <p:sp>
        <p:nvSpPr>
          <p:cNvPr id="12" name="Rectangle 11"/>
          <p:cNvSpPr/>
          <p:nvPr/>
        </p:nvSpPr>
        <p:spPr>
          <a:xfrm>
            <a:off x="8284464" y="2414016"/>
            <a:ext cx="3364992" cy="2231136"/>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2651760"/>
            <a:ext cx="2990088"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CONFIRM</a:t>
            </a:r>
          </a:p>
        </p:txBody>
      </p:sp>
      <p:sp>
        <p:nvSpPr>
          <p:cNvPr id="14" name="TextBox 13"/>
          <p:cNvSpPr txBox="1"/>
          <p:nvPr/>
        </p:nvSpPr>
        <p:spPr>
          <a:xfrm>
            <a:off x="8458200" y="3209544"/>
            <a:ext cx="2990088" cy="1197864"/>
          </a:xfrm>
          <a:prstGeom prst="rect">
            <a:avLst/>
          </a:prstGeom>
          <a:noFill/>
        </p:spPr>
        <p:txBody>
          <a:bodyPr wrap="square" lIns="0" rIns="0" tIns="0" bIns="0">
            <a:spAutoFit/>
          </a:bodyPr>
          <a:lstStyle/>
          <a:p>
            <a:pPr>
              <a:lnSpc>
                <a:spcPct val="108000"/>
              </a:lnSpc>
              <a:spcAft>
                <a:spcPts val="0"/>
              </a:spcAft>
            </a:pPr>
            <a:r>
              <a:rPr sz="2200" b="0">
                <a:solidFill>
                  <a:srgbClr val="253B4B"/>
                </a:solidFill>
                <a:latin typeface="Arial"/>
              </a:rPr>
              <a:t>Both agree on the asset, action and release conditions.</a:t>
            </a:r>
          </a:p>
        </p:txBody>
      </p:sp>
      <p:sp>
        <p:nvSpPr>
          <p:cNvPr id="15" name="TextBox 14"/>
          <p:cNvSpPr txBox="1"/>
          <p:nvPr/>
        </p:nvSpPr>
        <p:spPr>
          <a:xfrm>
            <a:off x="658368" y="5056632"/>
            <a:ext cx="10835640" cy="914400"/>
          </a:xfrm>
          <a:prstGeom prst="rect">
            <a:avLst/>
          </a:prstGeom>
          <a:noFill/>
        </p:spPr>
        <p:txBody>
          <a:bodyPr wrap="square" lIns="0" rIns="0" tIns="0" bIns="0">
            <a:spAutoFit/>
          </a:bodyPr>
          <a:lstStyle/>
          <a:p>
            <a:pPr>
              <a:lnSpc>
                <a:spcPct val="108000"/>
              </a:lnSpc>
              <a:spcAft>
                <a:spcPts val="0"/>
              </a:spcAft>
            </a:pPr>
            <a:r>
              <a:rPr sz="2700" b="1">
                <a:solidFill>
                  <a:srgbClr val="14354A"/>
                </a:solidFill>
                <a:latin typeface="Arial"/>
              </a:rPr>
              <a:t>Research question: does reviewed local adaptation improve operational understanding?</a:t>
            </a:r>
          </a:p>
        </p:txBody>
      </p:sp>
      <p:sp>
        <p:nvSpPr>
          <p:cNvPr id="16" name="TextBox 15"/>
          <p:cNvSpPr txBox="1"/>
          <p:nvPr/>
        </p:nvSpPr>
        <p:spPr>
          <a:xfrm>
            <a:off x="640080" y="6419088"/>
            <a:ext cx="10698480" cy="201168"/>
          </a:xfrm>
          <a:prstGeom prst="rect">
            <a:avLst/>
          </a:prstGeom>
          <a:noFill/>
        </p:spPr>
        <p:txBody>
          <a:bodyPr wrap="square" lIns="0" rIns="0" tIns="0" bIns="0">
            <a:spAutoFit/>
          </a:bodyPr>
          <a:lstStyle/>
          <a:p>
            <a:pPr>
              <a:lnSpc>
                <a:spcPct val="108000"/>
              </a:lnSpc>
              <a:spcAft>
                <a:spcPts val="0"/>
              </a:spcAft>
            </a:pPr>
            <a:r>
              <a:rPr sz="1000" b="0">
                <a:solidFill>
                  <a:srgbClr val="007580"/>
                </a:solidFill>
                <a:latin typeface="Arial"/>
                <a:hlinkClick r:id="rId2"/>
              </a:rPr>
              <a:t>HSE: industrial handover and cross-checking [1]</a:t>
            </a:r>
          </a:p>
        </p:txBody>
      </p:sp>
      <p:sp>
        <p:nvSpPr>
          <p:cNvPr id="17" name="TextBox 16"/>
          <p:cNvSpPr txBox="1"/>
          <p:nvPr/>
        </p:nvSpPr>
        <p:spPr>
          <a:xfrm>
            <a:off x="11320272" y="6510528"/>
            <a:ext cx="365760" cy="201168"/>
          </a:xfrm>
          <a:prstGeom prst="rect">
            <a:avLst/>
          </a:prstGeom>
          <a:noFill/>
        </p:spPr>
        <p:txBody>
          <a:bodyPr wrap="square" lIns="0" rIns="0" tIns="0" bIns="0">
            <a:spAutoFit/>
          </a:bodyPr>
          <a:lstStyle/>
          <a:p>
            <a:pPr>
              <a:lnSpc>
                <a:spcPct val="108000"/>
              </a:lnSpc>
              <a:spcAft>
                <a:spcPts val="0"/>
              </a:spcAft>
            </a:pPr>
            <a:r>
              <a:rPr sz="1000" b="0">
                <a:solidFill>
                  <a:srgbClr val="5B6E7B"/>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9728"/>
          </a:xfrm>
          <a:prstGeom prst="rect">
            <a:avLst/>
          </a:prstGeom>
          <a:solidFill>
            <a:srgbClr val="00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28600"/>
          </a:xfrm>
          <a:prstGeom prst="rect">
            <a:avLst/>
          </a:prstGeom>
          <a:noFill/>
        </p:spPr>
        <p:txBody>
          <a:bodyPr wrap="square" lIns="0" rIns="0" tIns="0" bIns="0">
            <a:spAutoFit/>
          </a:bodyPr>
          <a:lstStyle/>
          <a:p>
            <a:pPr>
              <a:lnSpc>
                <a:spcPct val="108000"/>
              </a:lnSpc>
              <a:spcAft>
                <a:spcPts val="0"/>
              </a:spcAft>
            </a:pPr>
            <a:r>
              <a:rPr sz="1000" b="1">
                <a:solidFill>
                  <a:srgbClr val="007580"/>
                </a:solidFill>
                <a:latin typeface="Arial"/>
              </a:rPr>
              <a:t>FACTORY RELAY  /  SMART FACTORY PBL</a:t>
            </a:r>
          </a:p>
        </p:txBody>
      </p:sp>
      <p:sp>
        <p:nvSpPr>
          <p:cNvPr id="4" name="TextBox 3"/>
          <p:cNvSpPr txBox="1"/>
          <p:nvPr/>
        </p:nvSpPr>
        <p:spPr>
          <a:xfrm>
            <a:off x="548640" y="758952"/>
            <a:ext cx="11064240" cy="694944"/>
          </a:xfrm>
          <a:prstGeom prst="rect">
            <a:avLst/>
          </a:prstGeom>
          <a:noFill/>
        </p:spPr>
        <p:txBody>
          <a:bodyPr wrap="square" lIns="0" rIns="0" tIns="0" bIns="0">
            <a:spAutoFit/>
          </a:bodyPr>
          <a:lstStyle/>
          <a:p>
            <a:pPr>
              <a:lnSpc>
                <a:spcPct val="108000"/>
              </a:lnSpc>
              <a:spcAft>
                <a:spcPts val="0"/>
              </a:spcAft>
            </a:pPr>
            <a:r>
              <a:rPr sz="3000" b="1">
                <a:solidFill>
                  <a:srgbClr val="14354A"/>
                </a:solidFill>
                <a:latin typeface="Arial"/>
              </a:rPr>
              <a:t>A real motivation; an expanded research plan</a:t>
            </a:r>
          </a:p>
        </p:txBody>
      </p:sp>
      <p:sp>
        <p:nvSpPr>
          <p:cNvPr id="5" name="TextBox 4"/>
          <p:cNvSpPr txBox="1"/>
          <p:nvPr/>
        </p:nvSpPr>
        <p:spPr>
          <a:xfrm>
            <a:off x="548640" y="1554480"/>
            <a:ext cx="11064240" cy="56692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The available DSV account concerns warehouse support, not a verified manufacturing incident.</a:t>
            </a:r>
          </a:p>
        </p:txBody>
      </p:sp>
      <p:sp>
        <p:nvSpPr>
          <p:cNvPr id="6" name="Rectangle 5"/>
          <p:cNvSpPr/>
          <p:nvPr/>
        </p:nvSpPr>
        <p:spPr>
          <a:xfrm>
            <a:off x="548640" y="2340864"/>
            <a:ext cx="5340096" cy="265176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9464"/>
            <a:ext cx="4937760"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BUILT TODAY</a:t>
            </a:r>
          </a:p>
        </p:txBody>
      </p:sp>
      <p:sp>
        <p:nvSpPr>
          <p:cNvPr id="8" name="TextBox 7"/>
          <p:cNvSpPr txBox="1"/>
          <p:nvPr/>
        </p:nvSpPr>
        <p:spPr>
          <a:xfrm>
            <a:off x="731520" y="3172968"/>
            <a:ext cx="4937760" cy="1600200"/>
          </a:xfrm>
          <a:prstGeom prst="rect">
            <a:avLst/>
          </a:prstGeom>
          <a:noFill/>
        </p:spPr>
        <p:txBody>
          <a:bodyPr wrap="square" lIns="0" rIns="0" tIns="0" bIns="0">
            <a:spAutoFit/>
          </a:bodyPr>
          <a:lstStyle/>
          <a:p>
            <a:pPr>
              <a:lnSpc>
                <a:spcPct val="108000"/>
              </a:lnSpc>
              <a:spcAft>
                <a:spcPts val="700"/>
              </a:spcAft>
            </a:pPr>
            <a:r>
              <a:rPr sz="2200" b="0">
                <a:solidFill>
                  <a:srgbClr val="253B4B"/>
                </a:solidFill>
                <a:latin typeface="Arial"/>
              </a:rPr>
              <a:t>Animated factory scenarios</a:t>
            </a:r>
          </a:p>
          <a:p>
            <a:pPr>
              <a:lnSpc>
                <a:spcPct val="108000"/>
              </a:lnSpc>
              <a:spcAft>
                <a:spcPts val="700"/>
              </a:spcAft>
            </a:pPr>
            <a:r>
              <a:rPr sz="2200" b="0">
                <a:solidFill>
                  <a:srgbClr val="253B4B"/>
                </a:solidFill>
                <a:latin typeface="Arial"/>
              </a:rPr>
              <a:t>Two complementary roles</a:t>
            </a:r>
          </a:p>
          <a:p>
            <a:pPr>
              <a:lnSpc>
                <a:spcPct val="108000"/>
              </a:lnSpc>
              <a:spcAft>
                <a:spcPts val="700"/>
              </a:spcAft>
            </a:pPr>
            <a:r>
              <a:rPr sz="2200" b="0">
                <a:solidFill>
                  <a:srgbClr val="253B4B"/>
                </a:solidFill>
                <a:latin typeface="Arial"/>
              </a:rPr>
              <a:t>Local typed-message play</a:t>
            </a:r>
          </a:p>
          <a:p>
            <a:pPr>
              <a:lnSpc>
                <a:spcPct val="108000"/>
              </a:lnSpc>
              <a:spcAft>
                <a:spcPts val="700"/>
              </a:spcAft>
            </a:pPr>
            <a:r>
              <a:rPr sz="2200" b="0">
                <a:solidFill>
                  <a:srgbClr val="253B4B"/>
                </a:solidFill>
                <a:latin typeface="Arial"/>
              </a:rPr>
              <a:t>Deterministic debrief</a:t>
            </a:r>
          </a:p>
        </p:txBody>
      </p:sp>
      <p:sp>
        <p:nvSpPr>
          <p:cNvPr id="9" name="Rectangle 8"/>
          <p:cNvSpPr/>
          <p:nvPr/>
        </p:nvSpPr>
        <p:spPr>
          <a:xfrm>
            <a:off x="6263640" y="2340864"/>
            <a:ext cx="5340096" cy="265176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569464"/>
            <a:ext cx="4937760"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PLANNED EXTENSION</a:t>
            </a:r>
          </a:p>
        </p:txBody>
      </p:sp>
      <p:sp>
        <p:nvSpPr>
          <p:cNvPr id="11" name="TextBox 10"/>
          <p:cNvSpPr txBox="1"/>
          <p:nvPr/>
        </p:nvSpPr>
        <p:spPr>
          <a:xfrm>
            <a:off x="6446520" y="3172968"/>
            <a:ext cx="4937760" cy="1600200"/>
          </a:xfrm>
          <a:prstGeom prst="rect">
            <a:avLst/>
          </a:prstGeom>
          <a:noFill/>
        </p:spPr>
        <p:txBody>
          <a:bodyPr wrap="square" lIns="0" rIns="0" tIns="0" bIns="0">
            <a:spAutoFit/>
          </a:bodyPr>
          <a:lstStyle/>
          <a:p>
            <a:pPr>
              <a:lnSpc>
                <a:spcPct val="108000"/>
              </a:lnSpc>
              <a:spcAft>
                <a:spcPts val="700"/>
              </a:spcAft>
            </a:pPr>
            <a:r>
              <a:rPr sz="2200" b="0">
                <a:solidFill>
                  <a:srgbClr val="253B4B"/>
                </a:solidFill>
                <a:latin typeface="Arial"/>
              </a:rPr>
              <a:t>Local automated translation</a:t>
            </a:r>
          </a:p>
          <a:p>
            <a:pPr>
              <a:lnSpc>
                <a:spcPct val="108000"/>
              </a:lnSpc>
              <a:spcAft>
                <a:spcPts val="700"/>
              </a:spcAft>
            </a:pPr>
            <a:r>
              <a:rPr sz="2200" b="0">
                <a:solidFill>
                  <a:srgbClr val="253B4B"/>
                </a:solidFill>
                <a:latin typeface="Arial"/>
              </a:rPr>
              <a:t>Cross-device multiplayer</a:t>
            </a:r>
          </a:p>
          <a:p>
            <a:pPr>
              <a:lnSpc>
                <a:spcPct val="108000"/>
              </a:lnSpc>
              <a:spcAft>
                <a:spcPts val="700"/>
              </a:spcAft>
            </a:pPr>
            <a:r>
              <a:rPr sz="2200" b="0">
                <a:solidFill>
                  <a:srgbClr val="253B4B"/>
                </a:solidFill>
                <a:latin typeface="Arial"/>
              </a:rPr>
              <a:t>Optional personal training</a:t>
            </a:r>
          </a:p>
          <a:p>
            <a:pPr>
              <a:lnSpc>
                <a:spcPct val="108000"/>
              </a:lnSpc>
              <a:spcAft>
                <a:spcPts val="700"/>
              </a:spcAft>
            </a:pPr>
            <a:r>
              <a:rPr sz="2200" b="0">
                <a:solidFill>
                  <a:srgbClr val="253B4B"/>
                </a:solidFill>
                <a:latin typeface="Arial"/>
              </a:rPr>
              <a:t>Guarded laboratory control</a:t>
            </a:r>
          </a:p>
        </p:txBody>
      </p:sp>
      <p:sp>
        <p:nvSpPr>
          <p:cNvPr id="12" name="TextBox 11"/>
          <p:cNvSpPr txBox="1"/>
          <p:nvPr/>
        </p:nvSpPr>
        <p:spPr>
          <a:xfrm>
            <a:off x="658368" y="5404104"/>
            <a:ext cx="10835640" cy="859536"/>
          </a:xfrm>
          <a:prstGeom prst="rect">
            <a:avLst/>
          </a:prstGeom>
          <a:noFill/>
        </p:spPr>
        <p:txBody>
          <a:bodyPr wrap="square" lIns="0" rIns="0" tIns="0" bIns="0">
            <a:spAutoFit/>
          </a:bodyPr>
          <a:lstStyle/>
          <a:p>
            <a:pPr>
              <a:lnSpc>
                <a:spcPct val="108000"/>
              </a:lnSpc>
              <a:spcAft>
                <a:spcPts val="0"/>
              </a:spcAft>
            </a:pPr>
            <a:r>
              <a:rPr sz="2500" b="1">
                <a:solidFill>
                  <a:srgbClr val="14354A"/>
                </a:solidFill>
                <a:latin typeface="Arial"/>
              </a:rPr>
              <a:t>First review: validate one company workflow and one community-reviewed language pair or variety.</a:t>
            </a:r>
          </a:p>
        </p:txBody>
      </p:sp>
      <p:sp>
        <p:nvSpPr>
          <p:cNvPr id="13" name="TextBox 12"/>
          <p:cNvSpPr txBox="1"/>
          <p:nvPr/>
        </p:nvSpPr>
        <p:spPr>
          <a:xfrm>
            <a:off x="11320272" y="6510528"/>
            <a:ext cx="365760" cy="201168"/>
          </a:xfrm>
          <a:prstGeom prst="rect">
            <a:avLst/>
          </a:prstGeom>
          <a:noFill/>
        </p:spPr>
        <p:txBody>
          <a:bodyPr wrap="square" lIns="0" rIns="0" tIns="0" bIns="0">
            <a:spAutoFit/>
          </a:bodyPr>
          <a:lstStyle/>
          <a:p>
            <a:pPr>
              <a:lnSpc>
                <a:spcPct val="108000"/>
              </a:lnSpc>
              <a:spcAft>
                <a:spcPts val="0"/>
              </a:spcAft>
            </a:pPr>
            <a:r>
              <a:rPr sz="1000" b="0">
                <a:solidFill>
                  <a:srgbClr val="5B6E7B"/>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9728"/>
          </a:xfrm>
          <a:prstGeom prst="rect">
            <a:avLst/>
          </a:prstGeom>
          <a:solidFill>
            <a:srgbClr val="00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28600"/>
          </a:xfrm>
          <a:prstGeom prst="rect">
            <a:avLst/>
          </a:prstGeom>
          <a:noFill/>
        </p:spPr>
        <p:txBody>
          <a:bodyPr wrap="square" lIns="0" rIns="0" tIns="0" bIns="0">
            <a:spAutoFit/>
          </a:bodyPr>
          <a:lstStyle/>
          <a:p>
            <a:pPr>
              <a:lnSpc>
                <a:spcPct val="108000"/>
              </a:lnSpc>
              <a:spcAft>
                <a:spcPts val="0"/>
              </a:spcAft>
            </a:pPr>
            <a:r>
              <a:rPr sz="1000" b="1">
                <a:solidFill>
                  <a:srgbClr val="007580"/>
                </a:solidFill>
                <a:latin typeface="Arial"/>
              </a:rPr>
              <a:t>FACTORY RELAY  /  SMART FACTORY PBL</a:t>
            </a:r>
          </a:p>
        </p:txBody>
      </p:sp>
      <p:sp>
        <p:nvSpPr>
          <p:cNvPr id="4" name="TextBox 3"/>
          <p:cNvSpPr txBox="1"/>
          <p:nvPr/>
        </p:nvSpPr>
        <p:spPr>
          <a:xfrm>
            <a:off x="548640" y="758952"/>
            <a:ext cx="11064240" cy="694944"/>
          </a:xfrm>
          <a:prstGeom prst="rect">
            <a:avLst/>
          </a:prstGeom>
          <a:noFill/>
        </p:spPr>
        <p:txBody>
          <a:bodyPr wrap="square" lIns="0" rIns="0" tIns="0" bIns="0">
            <a:spAutoFit/>
          </a:bodyPr>
          <a:lstStyle/>
          <a:p>
            <a:pPr>
              <a:lnSpc>
                <a:spcPct val="108000"/>
              </a:lnSpc>
              <a:spcAft>
                <a:spcPts val="0"/>
              </a:spcAft>
            </a:pPr>
            <a:r>
              <a:rPr sz="3000" b="1">
                <a:solidFill>
                  <a:srgbClr val="14354A"/>
                </a:solidFill>
                <a:latin typeface="Arial"/>
              </a:rPr>
              <a:t>Download once; interpret on the device</a:t>
            </a:r>
          </a:p>
        </p:txBody>
      </p:sp>
      <p:sp>
        <p:nvSpPr>
          <p:cNvPr id="5" name="TextBox 4"/>
          <p:cNvSpPr txBox="1"/>
          <p:nvPr/>
        </p:nvSpPr>
        <p:spPr>
          <a:xfrm>
            <a:off x="548640" y="1554480"/>
            <a:ext cx="11064240" cy="56692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Browser game + local companion + versioned model pack + private data vault</a:t>
            </a:r>
          </a:p>
        </p:txBody>
      </p:sp>
      <p:sp>
        <p:nvSpPr>
          <p:cNvPr id="6" name="Rectangle 5"/>
          <p:cNvSpPr/>
          <p:nvPr/>
        </p:nvSpPr>
        <p:spPr>
          <a:xfrm>
            <a:off x="548640" y="2340864"/>
            <a:ext cx="3364992" cy="2359152"/>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587752"/>
            <a:ext cx="2990088"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CAPTURE</a:t>
            </a:r>
          </a:p>
        </p:txBody>
      </p:sp>
      <p:sp>
        <p:nvSpPr>
          <p:cNvPr id="8" name="TextBox 7"/>
          <p:cNvSpPr txBox="1"/>
          <p:nvPr/>
        </p:nvSpPr>
        <p:spPr>
          <a:xfrm>
            <a:off x="722376" y="3182112"/>
            <a:ext cx="2980944" cy="1325880"/>
          </a:xfrm>
          <a:prstGeom prst="rect">
            <a:avLst/>
          </a:prstGeom>
          <a:noFill/>
        </p:spPr>
        <p:txBody>
          <a:bodyPr wrap="square" lIns="0" rIns="0" tIns="0" bIns="0">
            <a:spAutoFit/>
          </a:bodyPr>
          <a:lstStyle/>
          <a:p>
            <a:pPr>
              <a:lnSpc>
                <a:spcPct val="108000"/>
              </a:lnSpc>
              <a:spcAft>
                <a:spcPts val="700"/>
              </a:spcAft>
            </a:pPr>
            <a:r>
              <a:rPr sz="2000" b="0">
                <a:solidFill>
                  <a:srgbClr val="253B4B"/>
                </a:solidFill>
                <a:latin typeface="Arial"/>
              </a:rPr>
              <a:t>Original text or audio</a:t>
            </a:r>
          </a:p>
          <a:p>
            <a:pPr>
              <a:lnSpc>
                <a:spcPct val="108000"/>
              </a:lnSpc>
              <a:spcAft>
                <a:spcPts val="700"/>
              </a:spcAft>
            </a:pPr>
            <a:r>
              <a:rPr sz="2000" b="0">
                <a:solidFill>
                  <a:srgbClr val="253B4B"/>
                </a:solidFill>
                <a:latin typeface="Arial"/>
              </a:rPr>
              <a:t>Selected source profile</a:t>
            </a:r>
          </a:p>
          <a:p>
            <a:pPr>
              <a:lnSpc>
                <a:spcPct val="108000"/>
              </a:lnSpc>
              <a:spcAft>
                <a:spcPts val="700"/>
              </a:spcAft>
            </a:pPr>
            <a:r>
              <a:rPr sz="2000" b="0">
                <a:solidFill>
                  <a:srgbClr val="253B4B"/>
                </a:solidFill>
                <a:latin typeface="Arial"/>
              </a:rPr>
              <a:t>Separate ASR draft</a:t>
            </a:r>
          </a:p>
        </p:txBody>
      </p:sp>
      <p:sp>
        <p:nvSpPr>
          <p:cNvPr id="9" name="Rectangle 8"/>
          <p:cNvSpPr/>
          <p:nvPr/>
        </p:nvSpPr>
        <p:spPr>
          <a:xfrm>
            <a:off x="4416552" y="2340864"/>
            <a:ext cx="3364992" cy="2359152"/>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587752"/>
            <a:ext cx="2990088"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MEDIATE</a:t>
            </a:r>
          </a:p>
        </p:txBody>
      </p:sp>
      <p:sp>
        <p:nvSpPr>
          <p:cNvPr id="11" name="TextBox 10"/>
          <p:cNvSpPr txBox="1"/>
          <p:nvPr/>
        </p:nvSpPr>
        <p:spPr>
          <a:xfrm>
            <a:off x="4590288" y="3182112"/>
            <a:ext cx="2980944" cy="1325880"/>
          </a:xfrm>
          <a:prstGeom prst="rect">
            <a:avLst/>
          </a:prstGeom>
          <a:noFill/>
        </p:spPr>
        <p:txBody>
          <a:bodyPr wrap="square" lIns="0" rIns="0" tIns="0" bIns="0">
            <a:spAutoFit/>
          </a:bodyPr>
          <a:lstStyle/>
          <a:p>
            <a:pPr>
              <a:lnSpc>
                <a:spcPct val="108000"/>
              </a:lnSpc>
              <a:spcAft>
                <a:spcPts val="700"/>
              </a:spcAft>
            </a:pPr>
            <a:r>
              <a:rPr sz="2000" b="0">
                <a:solidFill>
                  <a:srgbClr val="253B4B"/>
                </a:solidFill>
                <a:latin typeface="Arial"/>
              </a:rPr>
              <a:t>Approved local examples</a:t>
            </a:r>
          </a:p>
          <a:p>
            <a:pPr>
              <a:lnSpc>
                <a:spcPct val="108000"/>
              </a:lnSpc>
              <a:spcAft>
                <a:spcPts val="700"/>
              </a:spcAft>
            </a:pPr>
            <a:r>
              <a:rPr sz="2000" b="0">
                <a:solidFill>
                  <a:srgbClr val="253B4B"/>
                </a:solidFill>
                <a:latin typeface="Arial"/>
              </a:rPr>
              <a:t>Small language model</a:t>
            </a:r>
          </a:p>
          <a:p>
            <a:pPr>
              <a:lnSpc>
                <a:spcPct val="108000"/>
              </a:lnSpc>
              <a:spcAft>
                <a:spcPts val="700"/>
              </a:spcAft>
            </a:pPr>
            <a:r>
              <a:rPr sz="2000" b="0">
                <a:solidFill>
                  <a:srgbClr val="253B4B"/>
                </a:solidFill>
                <a:latin typeface="Arial"/>
              </a:rPr>
              <a:t>Recipient target variety</a:t>
            </a:r>
          </a:p>
        </p:txBody>
      </p:sp>
      <p:sp>
        <p:nvSpPr>
          <p:cNvPr id="12" name="Rectangle 11"/>
          <p:cNvSpPr/>
          <p:nvPr/>
        </p:nvSpPr>
        <p:spPr>
          <a:xfrm>
            <a:off x="8284464" y="2340864"/>
            <a:ext cx="3364992" cy="2359152"/>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2587752"/>
            <a:ext cx="2990088"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REVIEW</a:t>
            </a:r>
          </a:p>
        </p:txBody>
      </p:sp>
      <p:sp>
        <p:nvSpPr>
          <p:cNvPr id="14" name="TextBox 13"/>
          <p:cNvSpPr txBox="1"/>
          <p:nvPr/>
        </p:nvSpPr>
        <p:spPr>
          <a:xfrm>
            <a:off x="8458200" y="3182112"/>
            <a:ext cx="2980944" cy="1325880"/>
          </a:xfrm>
          <a:prstGeom prst="rect">
            <a:avLst/>
          </a:prstGeom>
          <a:noFill/>
        </p:spPr>
        <p:txBody>
          <a:bodyPr wrap="square" lIns="0" rIns="0" tIns="0" bIns="0">
            <a:spAutoFit/>
          </a:bodyPr>
          <a:lstStyle/>
          <a:p>
            <a:pPr>
              <a:lnSpc>
                <a:spcPct val="108000"/>
              </a:lnSpc>
              <a:spcAft>
                <a:spcPts val="700"/>
              </a:spcAft>
            </a:pPr>
            <a:r>
              <a:rPr sz="2000" b="0">
                <a:solidFill>
                  <a:srgbClr val="253B4B"/>
                </a:solidFill>
                <a:latin typeface="Arial"/>
              </a:rPr>
              <a:t>Original + translation</a:t>
            </a:r>
          </a:p>
          <a:p>
            <a:pPr>
              <a:lnSpc>
                <a:spcPct val="108000"/>
              </a:lnSpc>
              <a:spcAft>
                <a:spcPts val="700"/>
              </a:spcAft>
            </a:pPr>
            <a:r>
              <a:rPr sz="2000" b="0">
                <a:solidFill>
                  <a:srgbClr val="253B4B"/>
                </a:solidFill>
                <a:latin typeface="Arial"/>
              </a:rPr>
              <a:t>Uncertainty + check-back</a:t>
            </a:r>
          </a:p>
          <a:p>
            <a:pPr>
              <a:lnSpc>
                <a:spcPct val="108000"/>
              </a:lnSpc>
              <a:spcAft>
                <a:spcPts val="700"/>
              </a:spcAft>
            </a:pPr>
            <a:r>
              <a:rPr sz="2000" b="0">
                <a:solidFill>
                  <a:srgbClr val="253B4B"/>
                </a:solidFill>
                <a:latin typeface="Arial"/>
              </a:rPr>
              <a:t>Reviewed local records</a:t>
            </a:r>
          </a:p>
        </p:txBody>
      </p:sp>
      <p:sp>
        <p:nvSpPr>
          <p:cNvPr id="15" name="TextBox 14"/>
          <p:cNvSpPr txBox="1"/>
          <p:nvPr/>
        </p:nvSpPr>
        <p:spPr>
          <a:xfrm>
            <a:off x="658368" y="5074920"/>
            <a:ext cx="10844784" cy="914400"/>
          </a:xfrm>
          <a:prstGeom prst="rect">
            <a:avLst/>
          </a:prstGeom>
          <a:noFill/>
        </p:spPr>
        <p:txBody>
          <a:bodyPr wrap="square" lIns="0" rIns="0" tIns="0" bIns="0">
            <a:spAutoFit/>
          </a:bodyPr>
          <a:lstStyle/>
          <a:p>
            <a:pPr>
              <a:lnSpc>
                <a:spcPct val="108000"/>
              </a:lnSpc>
              <a:spcAft>
                <a:spcPts val="0"/>
              </a:spcAft>
            </a:pPr>
            <a:r>
              <a:rPr sz="2600" b="1">
                <a:solidFill>
                  <a:srgbClr val="14354A"/>
                </a:solidFill>
                <a:latin typeface="Arial"/>
              </a:rPr>
              <a:t>Laptop first. Verify model compatibility and resources; reuse the cache. No silent cloud fallback.</a:t>
            </a:r>
          </a:p>
        </p:txBody>
      </p:sp>
      <p:sp>
        <p:nvSpPr>
          <p:cNvPr id="16" name="TextBox 15"/>
          <p:cNvSpPr txBox="1"/>
          <p:nvPr/>
        </p:nvSpPr>
        <p:spPr>
          <a:xfrm>
            <a:off x="640080" y="6419088"/>
            <a:ext cx="5029200" cy="201168"/>
          </a:xfrm>
          <a:prstGeom prst="rect">
            <a:avLst/>
          </a:prstGeom>
          <a:noFill/>
        </p:spPr>
        <p:txBody>
          <a:bodyPr wrap="square" lIns="0" rIns="0" tIns="0" bIns="0">
            <a:spAutoFit/>
          </a:bodyPr>
          <a:lstStyle/>
          <a:p>
            <a:pPr>
              <a:lnSpc>
                <a:spcPct val="108000"/>
              </a:lnSpc>
              <a:spcAft>
                <a:spcPts val="0"/>
              </a:spcAft>
            </a:pPr>
            <a:r>
              <a:rPr sz="1000" b="0">
                <a:solidFill>
                  <a:srgbClr val="007580"/>
                </a:solidFill>
                <a:latin typeface="Arial"/>
                <a:hlinkClick r:id="rId2"/>
              </a:rPr>
              <a:t>Candidate text model: Qwen3-1.7B [3]</a:t>
            </a:r>
          </a:p>
        </p:txBody>
      </p:sp>
      <p:sp>
        <p:nvSpPr>
          <p:cNvPr id="17" name="TextBox 16"/>
          <p:cNvSpPr txBox="1"/>
          <p:nvPr/>
        </p:nvSpPr>
        <p:spPr>
          <a:xfrm>
            <a:off x="6217920" y="6419088"/>
            <a:ext cx="4937760" cy="201168"/>
          </a:xfrm>
          <a:prstGeom prst="rect">
            <a:avLst/>
          </a:prstGeom>
          <a:noFill/>
        </p:spPr>
        <p:txBody>
          <a:bodyPr wrap="square" lIns="0" rIns="0" tIns="0" bIns="0">
            <a:spAutoFit/>
          </a:bodyPr>
          <a:lstStyle/>
          <a:p>
            <a:pPr>
              <a:lnSpc>
                <a:spcPct val="108000"/>
              </a:lnSpc>
              <a:spcAft>
                <a:spcPts val="0"/>
              </a:spcAft>
            </a:pPr>
            <a:r>
              <a:rPr sz="1000" b="0">
                <a:solidFill>
                  <a:srgbClr val="007580"/>
                </a:solidFill>
                <a:latin typeface="Arial"/>
                <a:hlinkClick r:id="rId3"/>
              </a:rPr>
              <a:t>Candidate speech model: Qwen3-ASR-0.6B-hf [4]</a:t>
            </a:r>
          </a:p>
        </p:txBody>
      </p:sp>
      <p:sp>
        <p:nvSpPr>
          <p:cNvPr id="18" name="TextBox 17"/>
          <p:cNvSpPr txBox="1"/>
          <p:nvPr/>
        </p:nvSpPr>
        <p:spPr>
          <a:xfrm>
            <a:off x="11320272" y="6510528"/>
            <a:ext cx="365760" cy="201168"/>
          </a:xfrm>
          <a:prstGeom prst="rect">
            <a:avLst/>
          </a:prstGeom>
          <a:noFill/>
        </p:spPr>
        <p:txBody>
          <a:bodyPr wrap="square" lIns="0" rIns="0" tIns="0" bIns="0">
            <a:spAutoFit/>
          </a:bodyPr>
          <a:lstStyle/>
          <a:p>
            <a:pPr>
              <a:lnSpc>
                <a:spcPct val="108000"/>
              </a:lnSpc>
              <a:spcAft>
                <a:spcPts val="0"/>
              </a:spcAft>
            </a:pPr>
            <a:r>
              <a:rPr sz="1000" b="0">
                <a:solidFill>
                  <a:srgbClr val="5B6E7B"/>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9728"/>
          </a:xfrm>
          <a:prstGeom prst="rect">
            <a:avLst/>
          </a:prstGeom>
          <a:solidFill>
            <a:srgbClr val="00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28600"/>
          </a:xfrm>
          <a:prstGeom prst="rect">
            <a:avLst/>
          </a:prstGeom>
          <a:noFill/>
        </p:spPr>
        <p:txBody>
          <a:bodyPr wrap="square" lIns="0" rIns="0" tIns="0" bIns="0">
            <a:spAutoFit/>
          </a:bodyPr>
          <a:lstStyle/>
          <a:p>
            <a:pPr>
              <a:lnSpc>
                <a:spcPct val="108000"/>
              </a:lnSpc>
              <a:spcAft>
                <a:spcPts val="0"/>
              </a:spcAft>
            </a:pPr>
            <a:r>
              <a:rPr sz="1000" b="1">
                <a:solidFill>
                  <a:srgbClr val="007580"/>
                </a:solidFill>
                <a:latin typeface="Arial"/>
              </a:rPr>
              <a:t>FACTORY RELAY  /  SMART FACTORY PBL</a:t>
            </a:r>
          </a:p>
        </p:txBody>
      </p:sp>
      <p:sp>
        <p:nvSpPr>
          <p:cNvPr id="4" name="TextBox 3"/>
          <p:cNvSpPr txBox="1"/>
          <p:nvPr/>
        </p:nvSpPr>
        <p:spPr>
          <a:xfrm>
            <a:off x="548640" y="758952"/>
            <a:ext cx="11064240" cy="694944"/>
          </a:xfrm>
          <a:prstGeom prst="rect">
            <a:avLst/>
          </a:prstGeom>
          <a:noFill/>
        </p:spPr>
        <p:txBody>
          <a:bodyPr wrap="square" lIns="0" rIns="0" tIns="0" bIns="0">
            <a:spAutoFit/>
          </a:bodyPr>
          <a:lstStyle/>
          <a:p>
            <a:pPr>
              <a:lnSpc>
                <a:spcPct val="108000"/>
              </a:lnSpc>
              <a:spcAft>
                <a:spcPts val="0"/>
              </a:spcAft>
            </a:pPr>
            <a:r>
              <a:rPr sz="3000" b="1">
                <a:solidFill>
                  <a:srgbClr val="14354A"/>
                </a:solidFill>
                <a:latin typeface="Arial"/>
              </a:rPr>
              <a:t>After every session: review, then choose</a:t>
            </a:r>
          </a:p>
        </p:txBody>
      </p:sp>
      <p:sp>
        <p:nvSpPr>
          <p:cNvPr id="5" name="TextBox 4"/>
          <p:cNvSpPr txBox="1"/>
          <p:nvPr/>
        </p:nvSpPr>
        <p:spPr>
          <a:xfrm>
            <a:off x="548640" y="1554480"/>
            <a:ext cx="11064240" cy="56692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Keep or delete → review examples → update memory and/or train → test → activate or roll back</a:t>
            </a:r>
          </a:p>
        </p:txBody>
      </p:sp>
      <p:sp>
        <p:nvSpPr>
          <p:cNvPr id="6" name="Rectangle 5"/>
          <p:cNvSpPr/>
          <p:nvPr/>
        </p:nvSpPr>
        <p:spPr>
          <a:xfrm>
            <a:off x="548640" y="2432304"/>
            <a:ext cx="5340096" cy="1929384"/>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651760"/>
            <a:ext cx="4937760"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MEMORY UPDATE</a:t>
            </a:r>
          </a:p>
        </p:txBody>
      </p:sp>
      <p:sp>
        <p:nvSpPr>
          <p:cNvPr id="8" name="TextBox 7"/>
          <p:cNvSpPr txBox="1"/>
          <p:nvPr/>
        </p:nvSpPr>
        <p:spPr>
          <a:xfrm>
            <a:off x="731520" y="3182112"/>
            <a:ext cx="4937760" cy="1124712"/>
          </a:xfrm>
          <a:prstGeom prst="rect">
            <a:avLst/>
          </a:prstGeom>
          <a:noFill/>
        </p:spPr>
        <p:txBody>
          <a:bodyPr wrap="square" lIns="0" rIns="0" tIns="0" bIns="0">
            <a:spAutoFit/>
          </a:bodyPr>
          <a:lstStyle/>
          <a:p>
            <a:pPr>
              <a:lnSpc>
                <a:spcPct val="108000"/>
              </a:lnSpc>
              <a:spcAft>
                <a:spcPts val="700"/>
              </a:spcAft>
            </a:pPr>
            <a:r>
              <a:rPr sz="2200" b="0">
                <a:solidFill>
                  <a:srgbClr val="253B4B"/>
                </a:solidFill>
                <a:latin typeface="Arial"/>
              </a:rPr>
              <a:t>Store approved terms and examples for retrieval.</a:t>
            </a:r>
          </a:p>
          <a:p>
            <a:pPr>
              <a:lnSpc>
                <a:spcPct val="108000"/>
              </a:lnSpc>
              <a:spcAft>
                <a:spcPts val="700"/>
              </a:spcAft>
            </a:pPr>
            <a:r>
              <a:rPr sz="2200" b="0">
                <a:solidFill>
                  <a:srgbClr val="253B4B"/>
                </a:solidFill>
                <a:latin typeface="Arial"/>
              </a:rPr>
              <a:t>No model weights change.</a:t>
            </a:r>
          </a:p>
        </p:txBody>
      </p:sp>
      <p:sp>
        <p:nvSpPr>
          <p:cNvPr id="9" name="Rectangle 8"/>
          <p:cNvSpPr/>
          <p:nvPr/>
        </p:nvSpPr>
        <p:spPr>
          <a:xfrm>
            <a:off x="6263640" y="2432304"/>
            <a:ext cx="5340096" cy="1929384"/>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651760"/>
            <a:ext cx="4937760"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PERSONAL ADAPTER</a:t>
            </a:r>
          </a:p>
        </p:txBody>
      </p:sp>
      <p:sp>
        <p:nvSpPr>
          <p:cNvPr id="11" name="TextBox 10"/>
          <p:cNvSpPr txBox="1"/>
          <p:nvPr/>
        </p:nvSpPr>
        <p:spPr>
          <a:xfrm>
            <a:off x="6446520" y="3182112"/>
            <a:ext cx="4937760" cy="1124712"/>
          </a:xfrm>
          <a:prstGeom prst="rect">
            <a:avLst/>
          </a:prstGeom>
          <a:noFill/>
        </p:spPr>
        <p:txBody>
          <a:bodyPr wrap="square" lIns="0" rIns="0" tIns="0" bIns="0">
            <a:spAutoFit/>
          </a:bodyPr>
          <a:lstStyle/>
          <a:p>
            <a:pPr>
              <a:lnSpc>
                <a:spcPct val="108000"/>
              </a:lnSpc>
              <a:spcAft>
                <a:spcPts val="700"/>
              </a:spcAft>
            </a:pPr>
            <a:r>
              <a:rPr sz="2200" b="0">
                <a:solidFill>
                  <a:srgbClr val="253B4B"/>
                </a:solidFill>
                <a:latin typeface="Arial"/>
              </a:rPr>
              <a:t>Freeze the base model; train a small LoRA adapter.</a:t>
            </a:r>
          </a:p>
          <a:p>
            <a:pPr>
              <a:lnSpc>
                <a:spcPct val="108000"/>
              </a:lnSpc>
              <a:spcAft>
                <a:spcPts val="700"/>
              </a:spcAft>
            </a:pPr>
            <a:r>
              <a:rPr sz="2200" b="0">
                <a:solidFill>
                  <a:srgbClr val="253B4B"/>
                </a:solidFill>
                <a:latin typeface="Arial"/>
              </a:rPr>
              <a:t>Model behavior can change.</a:t>
            </a:r>
          </a:p>
        </p:txBody>
      </p:sp>
      <p:sp>
        <p:nvSpPr>
          <p:cNvPr id="12" name="TextBox 11"/>
          <p:cNvSpPr txBox="1"/>
          <p:nvPr/>
        </p:nvSpPr>
        <p:spPr>
          <a:xfrm>
            <a:off x="658368" y="4681728"/>
            <a:ext cx="10826496" cy="886968"/>
          </a:xfrm>
          <a:prstGeom prst="rect">
            <a:avLst/>
          </a:prstGeom>
          <a:noFill/>
        </p:spPr>
        <p:txBody>
          <a:bodyPr wrap="square" lIns="0" rIns="0" tIns="0" bIns="0">
            <a:spAutoFit/>
          </a:bodyPr>
          <a:lstStyle/>
          <a:p>
            <a:pPr>
              <a:lnSpc>
                <a:spcPct val="108000"/>
              </a:lnSpc>
              <a:spcAft>
                <a:spcPts val="0"/>
              </a:spcAft>
            </a:pPr>
            <a:r>
              <a:rPr sz="2600" b="1">
                <a:solidFill>
                  <a:srgbClr val="14354A"/>
                </a:solidFill>
                <a:latin typeface="Arial"/>
              </a:rPr>
              <a:t>Train only on reviewed examples. Keep a held-out check and activate adapters between sessions.</a:t>
            </a:r>
          </a:p>
        </p:txBody>
      </p:sp>
      <p:sp>
        <p:nvSpPr>
          <p:cNvPr id="13" name="TextBox 12"/>
          <p:cNvSpPr txBox="1"/>
          <p:nvPr/>
        </p:nvSpPr>
        <p:spPr>
          <a:xfrm>
            <a:off x="658368" y="5769864"/>
            <a:ext cx="10826496" cy="47548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Too little verified data or device capacity? Queue examples and keep the current model.</a:t>
            </a:r>
          </a:p>
        </p:txBody>
      </p:sp>
      <p:sp>
        <p:nvSpPr>
          <p:cNvPr id="14" name="TextBox 13"/>
          <p:cNvSpPr txBox="1"/>
          <p:nvPr/>
        </p:nvSpPr>
        <p:spPr>
          <a:xfrm>
            <a:off x="640080" y="6419088"/>
            <a:ext cx="10698480" cy="201168"/>
          </a:xfrm>
          <a:prstGeom prst="rect">
            <a:avLst/>
          </a:prstGeom>
          <a:noFill/>
        </p:spPr>
        <p:txBody>
          <a:bodyPr wrap="square" lIns="0" rIns="0" tIns="0" bIns="0">
            <a:spAutoFit/>
          </a:bodyPr>
          <a:lstStyle/>
          <a:p>
            <a:pPr>
              <a:lnSpc>
                <a:spcPct val="108000"/>
              </a:lnSpc>
              <a:spcAft>
                <a:spcPts val="0"/>
              </a:spcAft>
            </a:pPr>
            <a:r>
              <a:rPr sz="1000" b="0">
                <a:solidFill>
                  <a:srgbClr val="007580"/>
                </a:solidFill>
                <a:latin typeface="Arial"/>
                <a:hlinkClick r:id="rId2"/>
              </a:rPr>
              <a:t>PEFT: quantization and adapter training [5]</a:t>
            </a:r>
          </a:p>
        </p:txBody>
      </p:sp>
      <p:sp>
        <p:nvSpPr>
          <p:cNvPr id="15" name="TextBox 14"/>
          <p:cNvSpPr txBox="1"/>
          <p:nvPr/>
        </p:nvSpPr>
        <p:spPr>
          <a:xfrm>
            <a:off x="11320272" y="6510528"/>
            <a:ext cx="365760" cy="201168"/>
          </a:xfrm>
          <a:prstGeom prst="rect">
            <a:avLst/>
          </a:prstGeom>
          <a:noFill/>
        </p:spPr>
        <p:txBody>
          <a:bodyPr wrap="square" lIns="0" rIns="0" tIns="0" bIns="0">
            <a:spAutoFit/>
          </a:bodyPr>
          <a:lstStyle/>
          <a:p>
            <a:pPr>
              <a:lnSpc>
                <a:spcPct val="108000"/>
              </a:lnSpc>
              <a:spcAft>
                <a:spcPts val="0"/>
              </a:spcAft>
            </a:pPr>
            <a:r>
              <a:rPr sz="1000" b="0">
                <a:solidFill>
                  <a:srgbClr val="5B6E7B"/>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9728"/>
          </a:xfrm>
          <a:prstGeom prst="rect">
            <a:avLst/>
          </a:prstGeom>
          <a:solidFill>
            <a:srgbClr val="00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28600"/>
          </a:xfrm>
          <a:prstGeom prst="rect">
            <a:avLst/>
          </a:prstGeom>
          <a:noFill/>
        </p:spPr>
        <p:txBody>
          <a:bodyPr wrap="square" lIns="0" rIns="0" tIns="0" bIns="0">
            <a:spAutoFit/>
          </a:bodyPr>
          <a:lstStyle/>
          <a:p>
            <a:pPr>
              <a:lnSpc>
                <a:spcPct val="108000"/>
              </a:lnSpc>
              <a:spcAft>
                <a:spcPts val="0"/>
              </a:spcAft>
            </a:pPr>
            <a:r>
              <a:rPr sz="1000" b="1">
                <a:solidFill>
                  <a:srgbClr val="007580"/>
                </a:solidFill>
                <a:latin typeface="Arial"/>
              </a:rPr>
              <a:t>FACTORY RELAY  /  SMART FACTORY PBL</a:t>
            </a:r>
          </a:p>
        </p:txBody>
      </p:sp>
      <p:sp>
        <p:nvSpPr>
          <p:cNvPr id="4" name="TextBox 3"/>
          <p:cNvSpPr txBox="1"/>
          <p:nvPr/>
        </p:nvSpPr>
        <p:spPr>
          <a:xfrm>
            <a:off x="548640" y="758952"/>
            <a:ext cx="11064240" cy="694944"/>
          </a:xfrm>
          <a:prstGeom prst="rect">
            <a:avLst/>
          </a:prstGeom>
          <a:noFill/>
        </p:spPr>
        <p:txBody>
          <a:bodyPr wrap="square" lIns="0" rIns="0" tIns="0" bIns="0">
            <a:spAutoFit/>
          </a:bodyPr>
          <a:lstStyle/>
          <a:p>
            <a:pPr>
              <a:lnSpc>
                <a:spcPct val="108000"/>
              </a:lnSpc>
              <a:spcAft>
                <a:spcPts val="0"/>
              </a:spcAft>
            </a:pPr>
            <a:r>
              <a:rPr sz="3000" b="1">
                <a:solidFill>
                  <a:srgbClr val="14354A"/>
                </a:solidFill>
                <a:latin typeface="Arial"/>
              </a:rPr>
              <a:t>Play across devices; keep training data local</a:t>
            </a:r>
          </a:p>
        </p:txBody>
      </p:sp>
      <p:sp>
        <p:nvSpPr>
          <p:cNvPr id="5" name="TextBox 4"/>
          <p:cNvSpPr txBox="1"/>
          <p:nvPr/>
        </p:nvSpPr>
        <p:spPr>
          <a:xfrm>
            <a:off x="548640" y="1554480"/>
            <a:ext cx="11064240" cy="56692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Encrypted peer channels exchange the selected chat and game events.</a:t>
            </a:r>
          </a:p>
        </p:txBody>
      </p:sp>
      <p:sp>
        <p:nvSpPr>
          <p:cNvPr id="6" name="Rectangle 5"/>
          <p:cNvSpPr/>
          <p:nvPr/>
        </p:nvSpPr>
        <p:spPr>
          <a:xfrm>
            <a:off x="548640" y="2377440"/>
            <a:ext cx="5340096" cy="256032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96896"/>
            <a:ext cx="4937760"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ON EACH DEVICE</a:t>
            </a:r>
          </a:p>
        </p:txBody>
      </p:sp>
      <p:sp>
        <p:nvSpPr>
          <p:cNvPr id="8" name="TextBox 7"/>
          <p:cNvSpPr txBox="1"/>
          <p:nvPr/>
        </p:nvSpPr>
        <p:spPr>
          <a:xfrm>
            <a:off x="731520" y="3200400"/>
            <a:ext cx="4937760" cy="1527048"/>
          </a:xfrm>
          <a:prstGeom prst="rect">
            <a:avLst/>
          </a:prstGeom>
          <a:noFill/>
        </p:spPr>
        <p:txBody>
          <a:bodyPr wrap="square" lIns="0" rIns="0" tIns="0" bIns="0">
            <a:spAutoFit/>
          </a:bodyPr>
          <a:lstStyle/>
          <a:p>
            <a:pPr>
              <a:lnSpc>
                <a:spcPct val="108000"/>
              </a:lnSpc>
              <a:spcAft>
                <a:spcPts val="700"/>
              </a:spcAft>
            </a:pPr>
            <a:r>
              <a:rPr sz="2200" b="0">
                <a:solidFill>
                  <a:srgbClr val="253B4B"/>
                </a:solidFill>
                <a:latin typeface="Arial"/>
              </a:rPr>
              <a:t>Original recordings</a:t>
            </a:r>
          </a:p>
          <a:p>
            <a:pPr>
              <a:lnSpc>
                <a:spcPct val="108000"/>
              </a:lnSpc>
              <a:spcAft>
                <a:spcPts val="700"/>
              </a:spcAft>
            </a:pPr>
            <a:r>
              <a:rPr sz="2200" b="0">
                <a:solidFill>
                  <a:srgbClr val="253B4B"/>
                </a:solidFill>
                <a:latin typeface="Arial"/>
              </a:rPr>
              <a:t>Personal reviewed examples</a:t>
            </a:r>
          </a:p>
          <a:p>
            <a:pPr>
              <a:lnSpc>
                <a:spcPct val="108000"/>
              </a:lnSpc>
              <a:spcAft>
                <a:spcPts val="700"/>
              </a:spcAft>
            </a:pPr>
            <a:r>
              <a:rPr sz="2200" b="0">
                <a:solidFill>
                  <a:srgbClr val="253B4B"/>
                </a:solidFill>
                <a:latin typeface="Arial"/>
              </a:rPr>
              <a:t>Local memory + adapter</a:t>
            </a:r>
          </a:p>
          <a:p>
            <a:pPr>
              <a:lnSpc>
                <a:spcPct val="108000"/>
              </a:lnSpc>
              <a:spcAft>
                <a:spcPts val="700"/>
              </a:spcAft>
            </a:pPr>
            <a:r>
              <a:rPr sz="2200" b="0">
                <a:solidFill>
                  <a:srgbClr val="253B4B"/>
                </a:solidFill>
                <a:latin typeface="Arial"/>
              </a:rPr>
              <a:t>Encrypted data vault</a:t>
            </a:r>
          </a:p>
        </p:txBody>
      </p:sp>
      <p:sp>
        <p:nvSpPr>
          <p:cNvPr id="9" name="Rectangle 8"/>
          <p:cNvSpPr/>
          <p:nvPr/>
        </p:nvSpPr>
        <p:spPr>
          <a:xfrm>
            <a:off x="6263640" y="2377440"/>
            <a:ext cx="5340096" cy="256032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596896"/>
            <a:ext cx="4937760" cy="384048"/>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SHARED FOR PLAY</a:t>
            </a:r>
          </a:p>
        </p:txBody>
      </p:sp>
      <p:sp>
        <p:nvSpPr>
          <p:cNvPr id="11" name="TextBox 10"/>
          <p:cNvSpPr txBox="1"/>
          <p:nvPr/>
        </p:nvSpPr>
        <p:spPr>
          <a:xfrm>
            <a:off x="6446520" y="3200400"/>
            <a:ext cx="4937760" cy="1527048"/>
          </a:xfrm>
          <a:prstGeom prst="rect">
            <a:avLst/>
          </a:prstGeom>
          <a:noFill/>
        </p:spPr>
        <p:txBody>
          <a:bodyPr wrap="square" lIns="0" rIns="0" tIns="0" bIns="0">
            <a:spAutoFit/>
          </a:bodyPr>
          <a:lstStyle/>
          <a:p>
            <a:pPr>
              <a:lnSpc>
                <a:spcPct val="108000"/>
              </a:lnSpc>
              <a:spcAft>
                <a:spcPts val="700"/>
              </a:spcAft>
            </a:pPr>
            <a:r>
              <a:rPr sz="2200" b="0">
                <a:solidFill>
                  <a:srgbClr val="253B4B"/>
                </a:solidFill>
                <a:latin typeface="Arial"/>
              </a:rPr>
              <a:t>Chosen messages</a:t>
            </a:r>
          </a:p>
          <a:p>
            <a:pPr>
              <a:lnSpc>
                <a:spcPct val="108000"/>
              </a:lnSpc>
              <a:spcAft>
                <a:spcPts val="700"/>
              </a:spcAft>
            </a:pPr>
            <a:r>
              <a:rPr sz="2200" b="0">
                <a:solidFill>
                  <a:srgbClr val="253B4B"/>
                </a:solidFill>
                <a:latin typeface="Arial"/>
              </a:rPr>
              <a:t>Room and role events</a:t>
            </a:r>
          </a:p>
          <a:p>
            <a:pPr>
              <a:lnSpc>
                <a:spcPct val="108000"/>
              </a:lnSpc>
              <a:spcAft>
                <a:spcPts val="700"/>
              </a:spcAft>
            </a:pPr>
            <a:r>
              <a:rPr sz="2200" b="0">
                <a:solidFill>
                  <a:srgbClr val="253B4B"/>
                </a:solidFill>
                <a:latin typeface="Arial"/>
              </a:rPr>
              <a:t>Confirmed game actions</a:t>
            </a:r>
          </a:p>
          <a:p>
            <a:pPr>
              <a:lnSpc>
                <a:spcPct val="108000"/>
              </a:lnSpc>
              <a:spcAft>
                <a:spcPts val="700"/>
              </a:spcAft>
            </a:pPr>
            <a:r>
              <a:rPr sz="2200" b="0">
                <a:solidFill>
                  <a:srgbClr val="253B4B"/>
                </a:solidFill>
                <a:latin typeface="Arial"/>
              </a:rPr>
              <a:t>Recipient-visible context</a:t>
            </a:r>
          </a:p>
        </p:txBody>
      </p:sp>
      <p:sp>
        <p:nvSpPr>
          <p:cNvPr id="12" name="TextBox 11"/>
          <p:cNvSpPr txBox="1"/>
          <p:nvPr/>
        </p:nvSpPr>
        <p:spPr>
          <a:xfrm>
            <a:off x="658368" y="5312664"/>
            <a:ext cx="10835640" cy="914400"/>
          </a:xfrm>
          <a:prstGeom prst="rect">
            <a:avLst/>
          </a:prstGeom>
          <a:noFill/>
        </p:spPr>
        <p:txBody>
          <a:bodyPr wrap="square" lIns="0" rIns="0" tIns="0" bIns="0">
            <a:spAutoFit/>
          </a:bodyPr>
          <a:lstStyle/>
          <a:p>
            <a:pPr>
              <a:lnSpc>
                <a:spcPct val="108000"/>
              </a:lnSpc>
              <a:spcAft>
                <a:spcPts val="0"/>
              </a:spcAft>
            </a:pPr>
            <a:r>
              <a:rPr sz="2500" b="1">
                <a:solidFill>
                  <a:srgbClr val="14354A"/>
                </a:solidFill>
                <a:latin typeface="Arial"/>
              </a:rPr>
              <a:t>WebRTC needs connection infrastructure. Recipients can retain shared messages; privacy is not absolute.</a:t>
            </a:r>
          </a:p>
        </p:txBody>
      </p:sp>
      <p:sp>
        <p:nvSpPr>
          <p:cNvPr id="13" name="TextBox 12"/>
          <p:cNvSpPr txBox="1"/>
          <p:nvPr/>
        </p:nvSpPr>
        <p:spPr>
          <a:xfrm>
            <a:off x="640080" y="6419088"/>
            <a:ext cx="10698480" cy="201168"/>
          </a:xfrm>
          <a:prstGeom prst="rect">
            <a:avLst/>
          </a:prstGeom>
          <a:noFill/>
        </p:spPr>
        <p:txBody>
          <a:bodyPr wrap="square" lIns="0" rIns="0" tIns="0" bIns="0">
            <a:spAutoFit/>
          </a:bodyPr>
          <a:lstStyle/>
          <a:p>
            <a:pPr>
              <a:lnSpc>
                <a:spcPct val="108000"/>
              </a:lnSpc>
              <a:spcAft>
                <a:spcPts val="0"/>
              </a:spcAft>
            </a:pPr>
            <a:r>
              <a:rPr sz="1000" b="0">
                <a:solidFill>
                  <a:srgbClr val="007580"/>
                </a:solidFill>
                <a:latin typeface="Arial"/>
                <a:hlinkClick r:id="rId2"/>
              </a:rPr>
              <a:t>WebRTC: peer connections, signaling and connectivity [6]</a:t>
            </a:r>
          </a:p>
        </p:txBody>
      </p:sp>
      <p:sp>
        <p:nvSpPr>
          <p:cNvPr id="14" name="TextBox 13"/>
          <p:cNvSpPr txBox="1"/>
          <p:nvPr/>
        </p:nvSpPr>
        <p:spPr>
          <a:xfrm>
            <a:off x="11320272" y="6510528"/>
            <a:ext cx="365760" cy="201168"/>
          </a:xfrm>
          <a:prstGeom prst="rect">
            <a:avLst/>
          </a:prstGeom>
          <a:noFill/>
        </p:spPr>
        <p:txBody>
          <a:bodyPr wrap="square" lIns="0" rIns="0" tIns="0" bIns="0">
            <a:spAutoFit/>
          </a:bodyPr>
          <a:lstStyle/>
          <a:p>
            <a:pPr>
              <a:lnSpc>
                <a:spcPct val="108000"/>
              </a:lnSpc>
              <a:spcAft>
                <a:spcPts val="0"/>
              </a:spcAft>
            </a:pPr>
            <a:r>
              <a:rPr sz="1000" b="0">
                <a:solidFill>
                  <a:srgbClr val="5B6E7B"/>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9728"/>
          </a:xfrm>
          <a:prstGeom prst="rect">
            <a:avLst/>
          </a:prstGeom>
          <a:solidFill>
            <a:srgbClr val="00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28600"/>
          </a:xfrm>
          <a:prstGeom prst="rect">
            <a:avLst/>
          </a:prstGeom>
          <a:noFill/>
        </p:spPr>
        <p:txBody>
          <a:bodyPr wrap="square" lIns="0" rIns="0" tIns="0" bIns="0">
            <a:spAutoFit/>
          </a:bodyPr>
          <a:lstStyle/>
          <a:p>
            <a:pPr>
              <a:lnSpc>
                <a:spcPct val="108000"/>
              </a:lnSpc>
              <a:spcAft>
                <a:spcPts val="0"/>
              </a:spcAft>
            </a:pPr>
            <a:r>
              <a:rPr sz="1000" b="1">
                <a:solidFill>
                  <a:srgbClr val="007580"/>
                </a:solidFill>
                <a:latin typeface="Arial"/>
              </a:rPr>
              <a:t>FACTORY RELAY  /  SMART FACTORY PBL</a:t>
            </a:r>
          </a:p>
        </p:txBody>
      </p:sp>
      <p:sp>
        <p:nvSpPr>
          <p:cNvPr id="4" name="TextBox 3"/>
          <p:cNvSpPr txBox="1"/>
          <p:nvPr/>
        </p:nvSpPr>
        <p:spPr>
          <a:xfrm>
            <a:off x="548640" y="758952"/>
            <a:ext cx="11064240" cy="694944"/>
          </a:xfrm>
          <a:prstGeom prst="rect">
            <a:avLst/>
          </a:prstGeom>
          <a:noFill/>
        </p:spPr>
        <p:txBody>
          <a:bodyPr wrap="square" lIns="0" rIns="0" tIns="0" bIns="0">
            <a:spAutoFit/>
          </a:bodyPr>
          <a:lstStyle/>
          <a:p>
            <a:pPr>
              <a:lnSpc>
                <a:spcPct val="108000"/>
              </a:lnSpc>
              <a:spcAft>
                <a:spcPts val="0"/>
              </a:spcAft>
            </a:pPr>
            <a:r>
              <a:rPr sz="3000" b="1">
                <a:solidFill>
                  <a:srgbClr val="14354A"/>
                </a:solidFill>
                <a:latin typeface="Arial"/>
              </a:rPr>
              <a:t>A guarded bridge to laboratory equipment</a:t>
            </a:r>
          </a:p>
        </p:txBody>
      </p:sp>
      <p:sp>
        <p:nvSpPr>
          <p:cNvPr id="5" name="TextBox 4"/>
          <p:cNvSpPr txBox="1"/>
          <p:nvPr/>
        </p:nvSpPr>
        <p:spPr>
          <a:xfrm>
            <a:off x="548640" y="1554480"/>
            <a:ext cx="11064240" cy="56692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Hardware-dependent milestone: a small supervised conveyor or PLC demonstration</a:t>
            </a:r>
          </a:p>
        </p:txBody>
      </p:sp>
      <p:sp>
        <p:nvSpPr>
          <p:cNvPr id="6" name="Rectangle 5"/>
          <p:cNvSpPr/>
          <p:nvPr/>
        </p:nvSpPr>
        <p:spPr>
          <a:xfrm>
            <a:off x="548640" y="2258568"/>
            <a:ext cx="11064240" cy="649224"/>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23160"/>
            <a:ext cx="2057400" cy="365760"/>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PROPOSE</a:t>
            </a:r>
          </a:p>
        </p:txBody>
      </p:sp>
      <p:sp>
        <p:nvSpPr>
          <p:cNvPr id="8" name="TextBox 7"/>
          <p:cNvSpPr txBox="1"/>
          <p:nvPr/>
        </p:nvSpPr>
        <p:spPr>
          <a:xfrm>
            <a:off x="2880360" y="2414016"/>
            <a:ext cx="8412480" cy="393192"/>
          </a:xfrm>
          <a:prstGeom prst="rect">
            <a:avLst/>
          </a:prstGeom>
          <a:noFill/>
        </p:spPr>
        <p:txBody>
          <a:bodyPr wrap="square" lIns="0" rIns="0" tIns="0" bIns="0">
            <a:spAutoFit/>
          </a:bodyPr>
          <a:lstStyle/>
          <a:p>
            <a:pPr>
              <a:lnSpc>
                <a:spcPct val="108000"/>
              </a:lnSpc>
              <a:spcAft>
                <a:spcPts val="0"/>
              </a:spcAft>
            </a:pPr>
            <a:r>
              <a:rPr sz="2000" b="0">
                <a:solidFill>
                  <a:srgbClr val="253B4B"/>
                </a:solidFill>
                <a:latin typeface="Arial"/>
              </a:rPr>
              <a:t>Language model produces an explicit action proposal.</a:t>
            </a:r>
          </a:p>
        </p:txBody>
      </p:sp>
      <p:sp>
        <p:nvSpPr>
          <p:cNvPr id="9" name="Rectangle 8"/>
          <p:cNvSpPr/>
          <p:nvPr/>
        </p:nvSpPr>
        <p:spPr>
          <a:xfrm>
            <a:off x="548640" y="3026664"/>
            <a:ext cx="11064240" cy="649224"/>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91256"/>
            <a:ext cx="2057400" cy="365760"/>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CONFIRM</a:t>
            </a:r>
          </a:p>
        </p:txBody>
      </p:sp>
      <p:sp>
        <p:nvSpPr>
          <p:cNvPr id="11" name="TextBox 10"/>
          <p:cNvSpPr txBox="1"/>
          <p:nvPr/>
        </p:nvSpPr>
        <p:spPr>
          <a:xfrm>
            <a:off x="2880360" y="3182112"/>
            <a:ext cx="8412480" cy="393192"/>
          </a:xfrm>
          <a:prstGeom prst="rect">
            <a:avLst/>
          </a:prstGeom>
          <a:noFill/>
        </p:spPr>
        <p:txBody>
          <a:bodyPr wrap="square" lIns="0" rIns="0" tIns="0" bIns="0">
            <a:spAutoFit/>
          </a:bodyPr>
          <a:lstStyle/>
          <a:p>
            <a:pPr>
              <a:lnSpc>
                <a:spcPct val="108000"/>
              </a:lnSpc>
              <a:spcAft>
                <a:spcPts val="0"/>
              </a:spcAft>
            </a:pPr>
            <a:r>
              <a:rPr sz="2000" b="0">
                <a:solidFill>
                  <a:srgbClr val="253B4B"/>
                </a:solidFill>
                <a:latin typeface="Arial"/>
              </a:rPr>
              <a:t>A human verifies asset, action and release conditions.</a:t>
            </a:r>
          </a:p>
        </p:txBody>
      </p:sp>
      <p:sp>
        <p:nvSpPr>
          <p:cNvPr id="12" name="Rectangle 11"/>
          <p:cNvSpPr/>
          <p:nvPr/>
        </p:nvSpPr>
        <p:spPr>
          <a:xfrm>
            <a:off x="548640" y="3794760"/>
            <a:ext cx="11064240" cy="649224"/>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959352"/>
            <a:ext cx="2057400" cy="365760"/>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AUTHORIZE</a:t>
            </a:r>
          </a:p>
        </p:txBody>
      </p:sp>
      <p:sp>
        <p:nvSpPr>
          <p:cNvPr id="14" name="TextBox 13"/>
          <p:cNvSpPr txBox="1"/>
          <p:nvPr/>
        </p:nvSpPr>
        <p:spPr>
          <a:xfrm>
            <a:off x="2880360" y="3950208"/>
            <a:ext cx="8412480" cy="393192"/>
          </a:xfrm>
          <a:prstGeom prst="rect">
            <a:avLst/>
          </a:prstGeom>
          <a:noFill/>
        </p:spPr>
        <p:txBody>
          <a:bodyPr wrap="square" lIns="0" rIns="0" tIns="0" bIns="0">
            <a:spAutoFit/>
          </a:bodyPr>
          <a:lstStyle/>
          <a:p>
            <a:pPr>
              <a:lnSpc>
                <a:spcPct val="108000"/>
              </a:lnSpc>
              <a:spcAft>
                <a:spcPts val="0"/>
              </a:spcAft>
            </a:pPr>
            <a:r>
              <a:rPr sz="2000" b="0">
                <a:solidFill>
                  <a:srgbClr val="253B4B"/>
                </a:solidFill>
                <a:latin typeface="Arial"/>
              </a:rPr>
              <a:t>Gateway checks allowed commands, fresh state and interlocks.</a:t>
            </a:r>
          </a:p>
        </p:txBody>
      </p:sp>
      <p:sp>
        <p:nvSpPr>
          <p:cNvPr id="15" name="Rectangle 14"/>
          <p:cNvSpPr/>
          <p:nvPr/>
        </p:nvSpPr>
        <p:spPr>
          <a:xfrm>
            <a:off x="548640" y="4562856"/>
            <a:ext cx="11064240" cy="649224"/>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727448"/>
            <a:ext cx="2057400" cy="365760"/>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EXECUTE</a:t>
            </a:r>
          </a:p>
        </p:txBody>
      </p:sp>
      <p:sp>
        <p:nvSpPr>
          <p:cNvPr id="17" name="TextBox 16"/>
          <p:cNvSpPr txBox="1"/>
          <p:nvPr/>
        </p:nvSpPr>
        <p:spPr>
          <a:xfrm>
            <a:off x="2880360" y="4718304"/>
            <a:ext cx="8412480" cy="393192"/>
          </a:xfrm>
          <a:prstGeom prst="rect">
            <a:avLst/>
          </a:prstGeom>
          <a:noFill/>
        </p:spPr>
        <p:txBody>
          <a:bodyPr wrap="square" lIns="0" rIns="0" tIns="0" bIns="0">
            <a:spAutoFit/>
          </a:bodyPr>
          <a:lstStyle/>
          <a:p>
            <a:pPr>
              <a:lnSpc>
                <a:spcPct val="108000"/>
              </a:lnSpc>
              <a:spcAft>
                <a:spcPts val="0"/>
              </a:spcAft>
            </a:pPr>
            <a:r>
              <a:rPr sz="2000" b="0">
                <a:solidFill>
                  <a:srgbClr val="253B4B"/>
                </a:solidFill>
                <a:latin typeface="Arial"/>
              </a:rPr>
              <a:t>The controller performs the permitted action and returns state.</a:t>
            </a:r>
          </a:p>
        </p:txBody>
      </p:sp>
      <p:sp>
        <p:nvSpPr>
          <p:cNvPr id="18" name="TextBox 17"/>
          <p:cNvSpPr txBox="1"/>
          <p:nvPr/>
        </p:nvSpPr>
        <p:spPr>
          <a:xfrm>
            <a:off x="658368" y="5504688"/>
            <a:ext cx="10826496" cy="822960"/>
          </a:xfrm>
          <a:prstGeom prst="rect">
            <a:avLst/>
          </a:prstGeom>
          <a:noFill/>
        </p:spPr>
        <p:txBody>
          <a:bodyPr wrap="square" lIns="0" rIns="0" tIns="0" bIns="0">
            <a:spAutoFit/>
          </a:bodyPr>
          <a:lstStyle/>
          <a:p>
            <a:pPr>
              <a:lnSpc>
                <a:spcPct val="108000"/>
              </a:lnSpc>
              <a:spcAft>
                <a:spcPts val="0"/>
              </a:spcAft>
            </a:pPr>
            <a:r>
              <a:rPr sz="2500" b="1">
                <a:solidFill>
                  <a:srgbClr val="14354A"/>
                </a:solidFill>
                <a:latin typeface="Arial"/>
              </a:rPr>
              <a:t>Stopping and network-loss handling remain independent of the language model.</a:t>
            </a:r>
          </a:p>
        </p:txBody>
      </p:sp>
      <p:sp>
        <p:nvSpPr>
          <p:cNvPr id="19" name="TextBox 18"/>
          <p:cNvSpPr txBox="1"/>
          <p:nvPr/>
        </p:nvSpPr>
        <p:spPr>
          <a:xfrm>
            <a:off x="640080" y="6419088"/>
            <a:ext cx="10698480" cy="201168"/>
          </a:xfrm>
          <a:prstGeom prst="rect">
            <a:avLst/>
          </a:prstGeom>
          <a:noFill/>
        </p:spPr>
        <p:txBody>
          <a:bodyPr wrap="square" lIns="0" rIns="0" tIns="0" bIns="0">
            <a:spAutoFit/>
          </a:bodyPr>
          <a:lstStyle/>
          <a:p>
            <a:pPr>
              <a:lnSpc>
                <a:spcPct val="108000"/>
              </a:lnSpc>
              <a:spcAft>
                <a:spcPts val="0"/>
              </a:spcAft>
            </a:pPr>
            <a:r>
              <a:rPr sz="1000" b="0">
                <a:solidFill>
                  <a:srgbClr val="007580"/>
                </a:solidFill>
                <a:latin typeface="Arial"/>
                <a:hlinkClick r:id="rId2"/>
              </a:rPr>
              <a:t>OPC UA can provide an interface; it is not a safety guarantee [10]</a:t>
            </a:r>
          </a:p>
        </p:txBody>
      </p:sp>
      <p:sp>
        <p:nvSpPr>
          <p:cNvPr id="20" name="TextBox 19"/>
          <p:cNvSpPr txBox="1"/>
          <p:nvPr/>
        </p:nvSpPr>
        <p:spPr>
          <a:xfrm>
            <a:off x="11320272" y="6510528"/>
            <a:ext cx="365760" cy="201168"/>
          </a:xfrm>
          <a:prstGeom prst="rect">
            <a:avLst/>
          </a:prstGeom>
          <a:noFill/>
        </p:spPr>
        <p:txBody>
          <a:bodyPr wrap="square" lIns="0" rIns="0" tIns="0" bIns="0">
            <a:spAutoFit/>
          </a:bodyPr>
          <a:lstStyle/>
          <a:p>
            <a:pPr>
              <a:lnSpc>
                <a:spcPct val="108000"/>
              </a:lnSpc>
              <a:spcAft>
                <a:spcPts val="0"/>
              </a:spcAft>
            </a:pPr>
            <a:r>
              <a:rPr sz="1000" b="0">
                <a:solidFill>
                  <a:srgbClr val="5B6E7B"/>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9728"/>
          </a:xfrm>
          <a:prstGeom prst="rect">
            <a:avLst/>
          </a:prstGeom>
          <a:solidFill>
            <a:srgbClr val="00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28600"/>
          </a:xfrm>
          <a:prstGeom prst="rect">
            <a:avLst/>
          </a:prstGeom>
          <a:noFill/>
        </p:spPr>
        <p:txBody>
          <a:bodyPr wrap="square" lIns="0" rIns="0" tIns="0" bIns="0">
            <a:spAutoFit/>
          </a:bodyPr>
          <a:lstStyle/>
          <a:p>
            <a:pPr>
              <a:lnSpc>
                <a:spcPct val="108000"/>
              </a:lnSpc>
              <a:spcAft>
                <a:spcPts val="0"/>
              </a:spcAft>
            </a:pPr>
            <a:r>
              <a:rPr sz="1000" b="1">
                <a:solidFill>
                  <a:srgbClr val="007580"/>
                </a:solidFill>
                <a:latin typeface="Arial"/>
              </a:rPr>
              <a:t>FACTORY RELAY  /  SMART FACTORY PBL</a:t>
            </a:r>
          </a:p>
        </p:txBody>
      </p:sp>
      <p:sp>
        <p:nvSpPr>
          <p:cNvPr id="4" name="TextBox 3"/>
          <p:cNvSpPr txBox="1"/>
          <p:nvPr/>
        </p:nvSpPr>
        <p:spPr>
          <a:xfrm>
            <a:off x="548640" y="758952"/>
            <a:ext cx="11064240" cy="694944"/>
          </a:xfrm>
          <a:prstGeom prst="rect">
            <a:avLst/>
          </a:prstGeom>
          <a:noFill/>
        </p:spPr>
        <p:txBody>
          <a:bodyPr wrap="square" lIns="0" rIns="0" tIns="0" bIns="0">
            <a:spAutoFit/>
          </a:bodyPr>
          <a:lstStyle/>
          <a:p>
            <a:pPr>
              <a:lnSpc>
                <a:spcPct val="108000"/>
              </a:lnSpc>
              <a:spcAft>
                <a:spcPts val="0"/>
              </a:spcAft>
            </a:pPr>
            <a:r>
              <a:rPr sz="3000" b="1">
                <a:solidFill>
                  <a:srgbClr val="14354A"/>
                </a:solidFill>
                <a:latin typeface="Arial"/>
              </a:rPr>
              <a:t>Evaluate preserved meaning and real learning</a:t>
            </a:r>
          </a:p>
        </p:txBody>
      </p:sp>
      <p:sp>
        <p:nvSpPr>
          <p:cNvPr id="5" name="TextBox 4"/>
          <p:cNvSpPr txBox="1"/>
          <p:nvPr/>
        </p:nvSpPr>
        <p:spPr>
          <a:xfrm>
            <a:off x="548640" y="1554480"/>
            <a:ext cx="11064240" cy="56692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Same base model: frozen → local memory → memory + personal adapter</a:t>
            </a:r>
          </a:p>
        </p:txBody>
      </p:sp>
      <p:sp>
        <p:nvSpPr>
          <p:cNvPr id="6" name="Rectangle 5"/>
          <p:cNvSpPr/>
          <p:nvPr/>
        </p:nvSpPr>
        <p:spPr>
          <a:xfrm>
            <a:off x="548640" y="2340864"/>
            <a:ext cx="5340096" cy="256032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9464"/>
            <a:ext cx="4937760" cy="393192"/>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PRIMARY OUTCOMES</a:t>
            </a:r>
          </a:p>
        </p:txBody>
      </p:sp>
      <p:sp>
        <p:nvSpPr>
          <p:cNvPr id="8" name="TextBox 7"/>
          <p:cNvSpPr txBox="1"/>
          <p:nvPr/>
        </p:nvSpPr>
        <p:spPr>
          <a:xfrm>
            <a:off x="731520" y="3163824"/>
            <a:ext cx="4937760" cy="1545336"/>
          </a:xfrm>
          <a:prstGeom prst="rect">
            <a:avLst/>
          </a:prstGeom>
          <a:noFill/>
        </p:spPr>
        <p:txBody>
          <a:bodyPr wrap="square" lIns="0" rIns="0" tIns="0" bIns="0">
            <a:spAutoFit/>
          </a:bodyPr>
          <a:lstStyle/>
          <a:p>
            <a:pPr>
              <a:lnSpc>
                <a:spcPct val="108000"/>
              </a:lnSpc>
              <a:spcAft>
                <a:spcPts val="700"/>
              </a:spcAft>
            </a:pPr>
            <a:r>
              <a:rPr sz="2200" b="0">
                <a:solidFill>
                  <a:srgbClr val="253B4B"/>
                </a:solidFill>
                <a:latin typeface="Arial"/>
              </a:rPr>
              <a:t>Correct factory decisions</a:t>
            </a:r>
          </a:p>
          <a:p>
            <a:pPr>
              <a:lnSpc>
                <a:spcPct val="108000"/>
              </a:lnSpc>
              <a:spcAft>
                <a:spcPts val="700"/>
              </a:spcAft>
            </a:pPr>
            <a:r>
              <a:rPr sz="2200" b="0">
                <a:solidFill>
                  <a:srgbClr val="253B4B"/>
                </a:solidFill>
                <a:latin typeface="Arial"/>
              </a:rPr>
              <a:t>Asset / action / negation</a:t>
            </a:r>
          </a:p>
          <a:p>
            <a:pPr>
              <a:lnSpc>
                <a:spcPct val="108000"/>
              </a:lnSpc>
              <a:spcAft>
                <a:spcPts val="700"/>
              </a:spcAft>
            </a:pPr>
            <a:r>
              <a:rPr sz="2200" b="0">
                <a:solidFill>
                  <a:srgbClr val="253B4B"/>
                </a:solidFill>
                <a:latin typeface="Arial"/>
              </a:rPr>
              <a:t>Quantity / time / condition</a:t>
            </a:r>
          </a:p>
          <a:p>
            <a:pPr>
              <a:lnSpc>
                <a:spcPct val="108000"/>
              </a:lnSpc>
              <a:spcAft>
                <a:spcPts val="700"/>
              </a:spcAft>
            </a:pPr>
            <a:r>
              <a:rPr sz="2200" b="0">
                <a:solidFill>
                  <a:srgbClr val="253B4B"/>
                </a:solidFill>
                <a:latin typeface="Arial"/>
              </a:rPr>
              <a:t>Unsupported additions</a:t>
            </a:r>
          </a:p>
        </p:txBody>
      </p:sp>
      <p:sp>
        <p:nvSpPr>
          <p:cNvPr id="9" name="Rectangle 8"/>
          <p:cNvSpPr/>
          <p:nvPr/>
        </p:nvSpPr>
        <p:spPr>
          <a:xfrm>
            <a:off x="6263640" y="2340864"/>
            <a:ext cx="5340096" cy="256032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569464"/>
            <a:ext cx="4937760" cy="393192"/>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SUPPORTING MEASURES</a:t>
            </a:r>
          </a:p>
        </p:txBody>
      </p:sp>
      <p:sp>
        <p:nvSpPr>
          <p:cNvPr id="11" name="TextBox 10"/>
          <p:cNvSpPr txBox="1"/>
          <p:nvPr/>
        </p:nvSpPr>
        <p:spPr>
          <a:xfrm>
            <a:off x="6446520" y="3163824"/>
            <a:ext cx="4937760" cy="1545336"/>
          </a:xfrm>
          <a:prstGeom prst="rect">
            <a:avLst/>
          </a:prstGeom>
          <a:noFill/>
        </p:spPr>
        <p:txBody>
          <a:bodyPr wrap="square" lIns="0" rIns="0" tIns="0" bIns="0">
            <a:spAutoFit/>
          </a:bodyPr>
          <a:lstStyle/>
          <a:p>
            <a:pPr>
              <a:lnSpc>
                <a:spcPct val="108000"/>
              </a:lnSpc>
              <a:spcAft>
                <a:spcPts val="700"/>
              </a:spcAft>
            </a:pPr>
            <a:r>
              <a:rPr sz="2200" b="0">
                <a:solidFill>
                  <a:srgbClr val="253B4B"/>
                </a:solidFill>
                <a:latin typeface="Arial"/>
              </a:rPr>
              <a:t>Clarification and latency</a:t>
            </a:r>
          </a:p>
          <a:p>
            <a:pPr>
              <a:lnSpc>
                <a:spcPct val="108000"/>
              </a:lnSpc>
              <a:spcAft>
                <a:spcPts val="700"/>
              </a:spcAft>
            </a:pPr>
            <a:r>
              <a:rPr sz="2200" b="0">
                <a:solidFill>
                  <a:srgbClr val="253B4B"/>
                </a:solidFill>
                <a:latin typeface="Arial"/>
              </a:rPr>
              <a:t>Memory / energy / time</a:t>
            </a:r>
          </a:p>
          <a:p>
            <a:pPr>
              <a:lnSpc>
                <a:spcPct val="108000"/>
              </a:lnSpc>
              <a:spcAft>
                <a:spcPts val="700"/>
              </a:spcAft>
            </a:pPr>
            <a:r>
              <a:rPr sz="2200" b="0">
                <a:solidFill>
                  <a:srgbClr val="253B4B"/>
                </a:solidFill>
                <a:latin typeface="Arial"/>
              </a:rPr>
              <a:t>Dialect-faithful WER/CER</a:t>
            </a:r>
          </a:p>
          <a:p>
            <a:pPr>
              <a:lnSpc>
                <a:spcPct val="108000"/>
              </a:lnSpc>
              <a:spcAft>
                <a:spcPts val="700"/>
              </a:spcAft>
            </a:pPr>
            <a:r>
              <a:rPr sz="2200" b="0">
                <a:solidFill>
                  <a:srgbClr val="253B4B"/>
                </a:solidFill>
                <a:latin typeface="Arial"/>
              </a:rPr>
              <a:t>Explicitly defined SAER</a:t>
            </a:r>
          </a:p>
        </p:txBody>
      </p:sp>
      <p:sp>
        <p:nvSpPr>
          <p:cNvPr id="12" name="TextBox 11"/>
          <p:cNvSpPr txBox="1"/>
          <p:nvPr/>
        </p:nvSpPr>
        <p:spPr>
          <a:xfrm>
            <a:off x="658368" y="5276088"/>
            <a:ext cx="10835640" cy="950976"/>
          </a:xfrm>
          <a:prstGeom prst="rect">
            <a:avLst/>
          </a:prstGeom>
          <a:noFill/>
        </p:spPr>
        <p:txBody>
          <a:bodyPr wrap="square" lIns="0" rIns="0" tIns="0" bIns="0">
            <a:spAutoFit/>
          </a:bodyPr>
          <a:lstStyle/>
          <a:p>
            <a:pPr>
              <a:lnSpc>
                <a:spcPct val="108000"/>
              </a:lnSpc>
              <a:spcAft>
                <a:spcPts val="0"/>
              </a:spcAft>
            </a:pPr>
            <a:r>
              <a:rPr sz="2500" b="1">
                <a:solidFill>
                  <a:srgbClr val="14354A"/>
                </a:solidFill>
                <a:latin typeface="Arial"/>
              </a:rPr>
              <a:t>Matched, held-out scenarios; reviewed meanings; counterbalanced order. Report failures as well as gains.</a:t>
            </a:r>
          </a:p>
        </p:txBody>
      </p:sp>
      <p:sp>
        <p:nvSpPr>
          <p:cNvPr id="13" name="TextBox 12"/>
          <p:cNvSpPr txBox="1"/>
          <p:nvPr/>
        </p:nvSpPr>
        <p:spPr>
          <a:xfrm>
            <a:off x="640080" y="6419088"/>
            <a:ext cx="5029200" cy="201168"/>
          </a:xfrm>
          <a:prstGeom prst="rect">
            <a:avLst/>
          </a:prstGeom>
          <a:noFill/>
        </p:spPr>
        <p:txBody>
          <a:bodyPr wrap="square" lIns="0" rIns="0" tIns="0" bIns="0">
            <a:spAutoFit/>
          </a:bodyPr>
          <a:lstStyle/>
          <a:p>
            <a:pPr>
              <a:lnSpc>
                <a:spcPct val="108000"/>
              </a:lnSpc>
              <a:spcAft>
                <a:spcPts val="0"/>
              </a:spcAft>
            </a:pPr>
            <a:r>
              <a:rPr sz="1000" b="0">
                <a:solidFill>
                  <a:srgbClr val="007580"/>
                </a:solidFill>
                <a:latin typeface="Arial"/>
                <a:hlinkClick r:id="rId2"/>
              </a:rPr>
              <a:t>ASR disparities are documented [2]</a:t>
            </a:r>
          </a:p>
        </p:txBody>
      </p:sp>
      <p:sp>
        <p:nvSpPr>
          <p:cNvPr id="14" name="TextBox 13"/>
          <p:cNvSpPr txBox="1"/>
          <p:nvPr/>
        </p:nvSpPr>
        <p:spPr>
          <a:xfrm>
            <a:off x="6217920" y="6419088"/>
            <a:ext cx="4937760" cy="201168"/>
          </a:xfrm>
          <a:prstGeom prst="rect">
            <a:avLst/>
          </a:prstGeom>
          <a:noFill/>
        </p:spPr>
        <p:txBody>
          <a:bodyPr wrap="square" lIns="0" rIns="0" tIns="0" bIns="0">
            <a:spAutoFit/>
          </a:bodyPr>
          <a:lstStyle/>
          <a:p>
            <a:pPr>
              <a:lnSpc>
                <a:spcPct val="108000"/>
              </a:lnSpc>
              <a:spcAft>
                <a:spcPts val="0"/>
              </a:spcAft>
            </a:pPr>
            <a:r>
              <a:rPr sz="1000" b="0">
                <a:solidFill>
                  <a:srgbClr val="007580"/>
                </a:solidFill>
                <a:latin typeface="Arial"/>
                <a:hlinkClick r:id="rId3"/>
              </a:rPr>
              <a:t>SAER definitions must be specified [8]</a:t>
            </a:r>
          </a:p>
        </p:txBody>
      </p:sp>
      <p:sp>
        <p:nvSpPr>
          <p:cNvPr id="15" name="TextBox 14"/>
          <p:cNvSpPr txBox="1"/>
          <p:nvPr/>
        </p:nvSpPr>
        <p:spPr>
          <a:xfrm>
            <a:off x="11320272" y="6510528"/>
            <a:ext cx="365760" cy="201168"/>
          </a:xfrm>
          <a:prstGeom prst="rect">
            <a:avLst/>
          </a:prstGeom>
          <a:noFill/>
        </p:spPr>
        <p:txBody>
          <a:bodyPr wrap="square" lIns="0" rIns="0" tIns="0" bIns="0">
            <a:spAutoFit/>
          </a:bodyPr>
          <a:lstStyle/>
          <a:p>
            <a:pPr>
              <a:lnSpc>
                <a:spcPct val="108000"/>
              </a:lnSpc>
              <a:spcAft>
                <a:spcPts val="0"/>
              </a:spcAft>
            </a:pPr>
            <a:r>
              <a:rPr sz="1000" b="0">
                <a:solidFill>
                  <a:srgbClr val="5B6E7B"/>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9728"/>
          </a:xfrm>
          <a:prstGeom prst="rect">
            <a:avLst/>
          </a:prstGeom>
          <a:solidFill>
            <a:srgbClr val="007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228600"/>
          </a:xfrm>
          <a:prstGeom prst="rect">
            <a:avLst/>
          </a:prstGeom>
          <a:noFill/>
        </p:spPr>
        <p:txBody>
          <a:bodyPr wrap="square" lIns="0" rIns="0" tIns="0" bIns="0">
            <a:spAutoFit/>
          </a:bodyPr>
          <a:lstStyle/>
          <a:p>
            <a:pPr>
              <a:lnSpc>
                <a:spcPct val="108000"/>
              </a:lnSpc>
              <a:spcAft>
                <a:spcPts val="0"/>
              </a:spcAft>
            </a:pPr>
            <a:r>
              <a:rPr sz="1000" b="1">
                <a:solidFill>
                  <a:srgbClr val="007580"/>
                </a:solidFill>
                <a:latin typeface="Arial"/>
              </a:rPr>
              <a:t>FACTORY RELAY  /  SMART FACTORY PBL</a:t>
            </a:r>
          </a:p>
        </p:txBody>
      </p:sp>
      <p:sp>
        <p:nvSpPr>
          <p:cNvPr id="4" name="TextBox 3"/>
          <p:cNvSpPr txBox="1"/>
          <p:nvPr/>
        </p:nvSpPr>
        <p:spPr>
          <a:xfrm>
            <a:off x="548640" y="758952"/>
            <a:ext cx="11064240" cy="694944"/>
          </a:xfrm>
          <a:prstGeom prst="rect">
            <a:avLst/>
          </a:prstGeom>
          <a:noFill/>
        </p:spPr>
        <p:txBody>
          <a:bodyPr wrap="square" lIns="0" rIns="0" tIns="0" bIns="0">
            <a:spAutoFit/>
          </a:bodyPr>
          <a:lstStyle/>
          <a:p>
            <a:pPr>
              <a:lnSpc>
                <a:spcPct val="108000"/>
              </a:lnSpc>
              <a:spcAft>
                <a:spcPts val="0"/>
              </a:spcAft>
            </a:pPr>
            <a:r>
              <a:rPr sz="3000" b="1">
                <a:solidFill>
                  <a:srgbClr val="14354A"/>
                </a:solidFill>
                <a:latin typeface="Arial"/>
              </a:rPr>
              <a:t>Deliver a local learning system in stages</a:t>
            </a:r>
          </a:p>
        </p:txBody>
      </p:sp>
      <p:sp>
        <p:nvSpPr>
          <p:cNvPr id="5" name="TextBox 4"/>
          <p:cNvSpPr txBox="1"/>
          <p:nvPr/>
        </p:nvSpPr>
        <p:spPr>
          <a:xfrm>
            <a:off x="548640" y="1554480"/>
            <a:ext cx="11064240" cy="566928"/>
          </a:xfrm>
          <a:prstGeom prst="rect">
            <a:avLst/>
          </a:prstGeom>
          <a:noFill/>
        </p:spPr>
        <p:txBody>
          <a:bodyPr wrap="square" lIns="0" rIns="0" tIns="0" bIns="0">
            <a:spAutoFit/>
          </a:bodyPr>
          <a:lstStyle/>
          <a:p>
            <a:pPr>
              <a:lnSpc>
                <a:spcPct val="108000"/>
              </a:lnSpc>
              <a:spcAft>
                <a:spcPts val="0"/>
              </a:spcAft>
            </a:pPr>
            <a:r>
              <a:rPr sz="2000" b="0">
                <a:solidFill>
                  <a:srgbClr val="5B6E7B"/>
                </a:solidFill>
                <a:latin typeface="Arial"/>
              </a:rPr>
              <a:t>Each milestone produces something demonstrable, with its remaining limits stated.</a:t>
            </a:r>
          </a:p>
        </p:txBody>
      </p:sp>
      <p:sp>
        <p:nvSpPr>
          <p:cNvPr id="6" name="Rectangle 5"/>
          <p:cNvSpPr/>
          <p:nvPr/>
        </p:nvSpPr>
        <p:spPr>
          <a:xfrm>
            <a:off x="548640" y="2350008"/>
            <a:ext cx="3364992" cy="265176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578608"/>
            <a:ext cx="2990088" cy="393192"/>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WEEKS 1–4</a:t>
            </a:r>
          </a:p>
        </p:txBody>
      </p:sp>
      <p:sp>
        <p:nvSpPr>
          <p:cNvPr id="8" name="TextBox 7"/>
          <p:cNvSpPr txBox="1"/>
          <p:nvPr/>
        </p:nvSpPr>
        <p:spPr>
          <a:xfrm>
            <a:off x="722376" y="3154680"/>
            <a:ext cx="2971800" cy="1664208"/>
          </a:xfrm>
          <a:prstGeom prst="rect">
            <a:avLst/>
          </a:prstGeom>
          <a:noFill/>
        </p:spPr>
        <p:txBody>
          <a:bodyPr wrap="square" lIns="0" rIns="0" tIns="0" bIns="0">
            <a:spAutoFit/>
          </a:bodyPr>
          <a:lstStyle/>
          <a:p>
            <a:pPr>
              <a:lnSpc>
                <a:spcPct val="108000"/>
              </a:lnSpc>
              <a:spcAft>
                <a:spcPts val="700"/>
              </a:spcAft>
            </a:pPr>
            <a:r>
              <a:rPr sz="2000" b="0">
                <a:solidFill>
                  <a:srgbClr val="253B4B"/>
                </a:solidFill>
                <a:latin typeface="Arial"/>
              </a:rPr>
              <a:t>Company problem sheet</a:t>
            </a:r>
          </a:p>
          <a:p>
            <a:pPr>
              <a:lnSpc>
                <a:spcPct val="108000"/>
              </a:lnSpc>
              <a:spcAft>
                <a:spcPts val="700"/>
              </a:spcAft>
            </a:pPr>
            <a:r>
              <a:rPr sz="2000" b="0">
                <a:solidFill>
                  <a:srgbClr val="253B4B"/>
                </a:solidFill>
                <a:latin typeface="Arial"/>
              </a:rPr>
              <a:t>Language + device pilot</a:t>
            </a:r>
          </a:p>
          <a:p>
            <a:pPr>
              <a:lnSpc>
                <a:spcPct val="108000"/>
              </a:lnSpc>
              <a:spcAft>
                <a:spcPts val="700"/>
              </a:spcAft>
            </a:pPr>
            <a:r>
              <a:rPr sz="2000" b="0">
                <a:solidFill>
                  <a:srgbClr val="253B4B"/>
                </a:solidFill>
                <a:latin typeface="Arial"/>
              </a:rPr>
              <a:t>Reviewed scenarios</a:t>
            </a:r>
          </a:p>
          <a:p>
            <a:pPr>
              <a:lnSpc>
                <a:spcPct val="108000"/>
              </a:lnSpc>
              <a:spcAft>
                <a:spcPts val="700"/>
              </a:spcAft>
            </a:pPr>
            <a:r>
              <a:rPr sz="2000" b="0">
                <a:solidFill>
                  <a:srgbClr val="253B4B"/>
                </a:solidFill>
                <a:latin typeface="Arial"/>
              </a:rPr>
              <a:t>Proposal and demo</a:t>
            </a:r>
          </a:p>
        </p:txBody>
      </p:sp>
      <p:sp>
        <p:nvSpPr>
          <p:cNvPr id="9" name="Rectangle 8"/>
          <p:cNvSpPr/>
          <p:nvPr/>
        </p:nvSpPr>
        <p:spPr>
          <a:xfrm>
            <a:off x="4416552" y="2350008"/>
            <a:ext cx="3364992" cy="265176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2578608"/>
            <a:ext cx="2990088" cy="393192"/>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WEEKS 5–12</a:t>
            </a:r>
          </a:p>
        </p:txBody>
      </p:sp>
      <p:sp>
        <p:nvSpPr>
          <p:cNvPr id="11" name="TextBox 10"/>
          <p:cNvSpPr txBox="1"/>
          <p:nvPr/>
        </p:nvSpPr>
        <p:spPr>
          <a:xfrm>
            <a:off x="4590288" y="3154680"/>
            <a:ext cx="2971800" cy="1664208"/>
          </a:xfrm>
          <a:prstGeom prst="rect">
            <a:avLst/>
          </a:prstGeom>
          <a:noFill/>
        </p:spPr>
        <p:txBody>
          <a:bodyPr wrap="square" lIns="0" rIns="0" tIns="0" bIns="0">
            <a:spAutoFit/>
          </a:bodyPr>
          <a:lstStyle/>
          <a:p>
            <a:pPr>
              <a:lnSpc>
                <a:spcPct val="108000"/>
              </a:lnSpc>
              <a:spcAft>
                <a:spcPts val="700"/>
              </a:spcAft>
            </a:pPr>
            <a:r>
              <a:rPr sz="2000" b="0">
                <a:solidFill>
                  <a:srgbClr val="253B4B"/>
                </a:solidFill>
                <a:latin typeface="Arial"/>
              </a:rPr>
              <a:t>Local model delivery</a:t>
            </a:r>
          </a:p>
          <a:p>
            <a:pPr>
              <a:lnSpc>
                <a:spcPct val="108000"/>
              </a:lnSpc>
              <a:spcAft>
                <a:spcPts val="700"/>
              </a:spcAft>
            </a:pPr>
            <a:r>
              <a:rPr sz="2000" b="0">
                <a:solidFill>
                  <a:srgbClr val="253B4B"/>
                </a:solidFill>
                <a:latin typeface="Arial"/>
              </a:rPr>
              <a:t>Translation + remote play</a:t>
            </a:r>
          </a:p>
          <a:p>
            <a:pPr>
              <a:lnSpc>
                <a:spcPct val="108000"/>
              </a:lnSpc>
              <a:spcAft>
                <a:spcPts val="700"/>
              </a:spcAft>
            </a:pPr>
            <a:r>
              <a:rPr sz="2000" b="0">
                <a:solidFill>
                  <a:srgbClr val="253B4B"/>
                </a:solidFill>
                <a:latin typeface="Arial"/>
              </a:rPr>
              <a:t>Review + memory tools</a:t>
            </a:r>
          </a:p>
          <a:p>
            <a:pPr>
              <a:lnSpc>
                <a:spcPct val="108000"/>
              </a:lnSpc>
              <a:spcAft>
                <a:spcPts val="700"/>
              </a:spcAft>
            </a:pPr>
            <a:r>
              <a:rPr sz="2000" b="0">
                <a:solidFill>
                  <a:srgbClr val="253B4B"/>
                </a:solidFill>
                <a:latin typeface="Arial"/>
              </a:rPr>
              <a:t>Adapter training + rollback</a:t>
            </a:r>
          </a:p>
        </p:txBody>
      </p:sp>
      <p:sp>
        <p:nvSpPr>
          <p:cNvPr id="12" name="Rectangle 11"/>
          <p:cNvSpPr/>
          <p:nvPr/>
        </p:nvSpPr>
        <p:spPr>
          <a:xfrm>
            <a:off x="8284464" y="2350008"/>
            <a:ext cx="3364992" cy="2651760"/>
          </a:xfrm>
          <a:prstGeom prst="rect">
            <a:avLst/>
          </a:prstGeom>
          <a:solidFill>
            <a:srgbClr val="EFF6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2578608"/>
            <a:ext cx="2990088" cy="393192"/>
          </a:xfrm>
          <a:prstGeom prst="rect">
            <a:avLst/>
          </a:prstGeom>
          <a:noFill/>
        </p:spPr>
        <p:txBody>
          <a:bodyPr wrap="square" lIns="0" rIns="0" tIns="0" bIns="0">
            <a:spAutoFit/>
          </a:bodyPr>
          <a:lstStyle/>
          <a:p>
            <a:pPr>
              <a:lnSpc>
                <a:spcPct val="108000"/>
              </a:lnSpc>
              <a:spcAft>
                <a:spcPts val="0"/>
              </a:spcAft>
            </a:pPr>
            <a:r>
              <a:rPr sz="2000" b="1">
                <a:solidFill>
                  <a:srgbClr val="007580"/>
                </a:solidFill>
                <a:latin typeface="Arial"/>
              </a:rPr>
              <a:t>WEEKS 13–15</a:t>
            </a:r>
          </a:p>
        </p:txBody>
      </p:sp>
      <p:sp>
        <p:nvSpPr>
          <p:cNvPr id="14" name="TextBox 13"/>
          <p:cNvSpPr txBox="1"/>
          <p:nvPr/>
        </p:nvSpPr>
        <p:spPr>
          <a:xfrm>
            <a:off x="8458200" y="3154680"/>
            <a:ext cx="2971800" cy="1664208"/>
          </a:xfrm>
          <a:prstGeom prst="rect">
            <a:avLst/>
          </a:prstGeom>
          <a:noFill/>
        </p:spPr>
        <p:txBody>
          <a:bodyPr wrap="square" lIns="0" rIns="0" tIns="0" bIns="0">
            <a:spAutoFit/>
          </a:bodyPr>
          <a:lstStyle/>
          <a:p>
            <a:pPr>
              <a:lnSpc>
                <a:spcPct val="108000"/>
              </a:lnSpc>
              <a:spcAft>
                <a:spcPts val="700"/>
              </a:spcAft>
            </a:pPr>
            <a:r>
              <a:rPr sz="2000" b="0">
                <a:solidFill>
                  <a:srgbClr val="253B4B"/>
                </a:solidFill>
                <a:latin typeface="Arial"/>
              </a:rPr>
              <a:t>Controlled evaluation</a:t>
            </a:r>
          </a:p>
          <a:p>
            <a:pPr>
              <a:lnSpc>
                <a:spcPct val="108000"/>
              </a:lnSpc>
              <a:spcAft>
                <a:spcPts val="700"/>
              </a:spcAft>
            </a:pPr>
            <a:r>
              <a:rPr sz="2000" b="0">
                <a:solidFill>
                  <a:srgbClr val="253B4B"/>
                </a:solidFill>
                <a:latin typeface="Arial"/>
              </a:rPr>
              <a:t>Guarded lab demonstration*</a:t>
            </a:r>
          </a:p>
          <a:p>
            <a:pPr>
              <a:lnSpc>
                <a:spcPct val="108000"/>
              </a:lnSpc>
              <a:spcAft>
                <a:spcPts val="700"/>
              </a:spcAft>
            </a:pPr>
            <a:r>
              <a:rPr sz="2000" b="0">
                <a:solidFill>
                  <a:srgbClr val="253B4B"/>
                </a:solidFill>
                <a:latin typeface="Arial"/>
              </a:rPr>
              <a:t>Failure analysis</a:t>
            </a:r>
          </a:p>
          <a:p>
            <a:pPr>
              <a:lnSpc>
                <a:spcPct val="108000"/>
              </a:lnSpc>
              <a:spcAft>
                <a:spcPts val="700"/>
              </a:spcAft>
            </a:pPr>
            <a:r>
              <a:rPr sz="2000" b="0">
                <a:solidFill>
                  <a:srgbClr val="253B4B"/>
                </a:solidFill>
                <a:latin typeface="Arial"/>
              </a:rPr>
              <a:t>Report and presentation</a:t>
            </a:r>
          </a:p>
        </p:txBody>
      </p:sp>
      <p:sp>
        <p:nvSpPr>
          <p:cNvPr id="15" name="TextBox 14"/>
          <p:cNvSpPr txBox="1"/>
          <p:nvPr/>
        </p:nvSpPr>
        <p:spPr>
          <a:xfrm>
            <a:off x="658368" y="5312664"/>
            <a:ext cx="10826496" cy="813816"/>
          </a:xfrm>
          <a:prstGeom prst="rect">
            <a:avLst/>
          </a:prstGeom>
          <a:noFill/>
        </p:spPr>
        <p:txBody>
          <a:bodyPr wrap="square" lIns="0" rIns="0" tIns="0" bIns="0">
            <a:spAutoFit/>
          </a:bodyPr>
          <a:lstStyle/>
          <a:p>
            <a:pPr>
              <a:lnSpc>
                <a:spcPct val="108000"/>
              </a:lnSpc>
              <a:spcAft>
                <a:spcPts val="0"/>
              </a:spcAft>
            </a:pPr>
            <a:r>
              <a:rPr sz="2400" b="1">
                <a:solidFill>
                  <a:srgbClr val="14354A"/>
                </a:solidFill>
                <a:latin typeface="Arial"/>
              </a:rPr>
              <a:t>Risks: device capacity, target-language coverage, overfitting, company access and hardware availability.</a:t>
            </a:r>
          </a:p>
        </p:txBody>
      </p:sp>
      <p:sp>
        <p:nvSpPr>
          <p:cNvPr id="16" name="TextBox 15"/>
          <p:cNvSpPr txBox="1"/>
          <p:nvPr/>
        </p:nvSpPr>
        <p:spPr>
          <a:xfrm>
            <a:off x="658368" y="6309360"/>
            <a:ext cx="10789920" cy="274320"/>
          </a:xfrm>
          <a:prstGeom prst="rect">
            <a:avLst/>
          </a:prstGeom>
          <a:noFill/>
        </p:spPr>
        <p:txBody>
          <a:bodyPr wrap="square" lIns="0" rIns="0" tIns="0" bIns="0">
            <a:spAutoFit/>
          </a:bodyPr>
          <a:lstStyle/>
          <a:p>
            <a:pPr>
              <a:lnSpc>
                <a:spcPct val="108000"/>
              </a:lnSpc>
              <a:spcAft>
                <a:spcPts val="0"/>
              </a:spcAft>
            </a:pPr>
            <a:r>
              <a:rPr sz="1200" b="0">
                <a:solidFill>
                  <a:srgbClr val="5B6E7B"/>
                </a:solidFill>
                <a:latin typeface="Arial"/>
              </a:rPr>
              <a:t>* Hardware-dependent. Factory supervisor: process realism. AI/language supervisor: models and evaluation.</a:t>
            </a:r>
          </a:p>
        </p:txBody>
      </p:sp>
      <p:sp>
        <p:nvSpPr>
          <p:cNvPr id="17" name="TextBox 16"/>
          <p:cNvSpPr txBox="1"/>
          <p:nvPr/>
        </p:nvSpPr>
        <p:spPr>
          <a:xfrm>
            <a:off x="11320272" y="6510528"/>
            <a:ext cx="365760" cy="201168"/>
          </a:xfrm>
          <a:prstGeom prst="rect">
            <a:avLst/>
          </a:prstGeom>
          <a:noFill/>
        </p:spPr>
        <p:txBody>
          <a:bodyPr wrap="square" lIns="0" rIns="0" tIns="0" bIns="0">
            <a:spAutoFit/>
          </a:bodyPr>
          <a:lstStyle/>
          <a:p>
            <a:pPr>
              <a:lnSpc>
                <a:spcPct val="108000"/>
              </a:lnSpc>
              <a:spcAft>
                <a:spcPts val="0"/>
              </a:spcAft>
            </a:pPr>
            <a:r>
              <a:rPr sz="1000" b="0">
                <a:solidFill>
                  <a:srgbClr val="5B6E7B"/>
                </a:solidFill>
                <a:latin typeface="Arial"/>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Factory Relay: On-Device Learning for Multilingual Factory Communication</dc:title>
  <dc:subject>Local multilingual mediation, reviewed session adaptation, and factory handover</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